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2" y="1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图把GOLD的群体式遗传搜索概念化为三个并行岛屿：每个岛内的配体姿态子种群先独立选择、交叉和变异，隔一段时间只交换少量个体。岛内的小生境把相近姿态分成不同簇，避免单一高分姿态过早占满种群，从而保留多个可能的结合模式。</a:t>
            </a:r>
          </a:p>
          <a:p>
            <a:r>
              <a:t>这是教学示意图，不代表某一GOLD版本的固定迁移频率、种群大小或小生境参数；实际设置以所用版本和配置为准。</a:t>
            </a:r>
          </a:p>
          <a:p>
            <a:r>
              <a:t>[Sources]</a:t>
            </a:r>
          </a:p>
          <a:p>
            <a:r>
              <a:t>Jones G, Willett P, Glen RC, Leach AR, Taylor R. Development and validation of a genetic algorithm for flexible docking. J Mol Biol. 1997. https://doi.org/10.1006/jmbi.1996.0897</a:t>
            </a:r>
          </a:p>
          <a:p>
            <a:r>
              <a:t>Verdonk ML, Cole JC, Hartshorn MJ, Murray CW, Taylor RD. Improved protein-ligand docking using GOLD. Proteins. 2003. https://doi.org/10.1002/prot.10465</a:t>
            </a:r>
          </a:p>
          <a:p>
            <a:r>
              <a:t>CCDC GOLD overview: https://www.ccdc.cam.ac.uk/solutions/software/gold/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眉题">
            <a:extLst>
              <a:ext uri="{FF2B5EF4-FFF2-40B4-BE49-F238E27FC236}">
                <a16:creationId xmlns:a16="http://schemas.microsoft.com/office/drawing/2014/main" id="{86484487-0025-49BF-A357-D12E13B86433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97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GOLD · </a:t>
            </a:r>
            <a:r>
              <a:rPr lang="zh-CN" altLang="en-US" sz="97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搜索算法</a:t>
            </a:r>
            <a:endParaRPr sz="975" b="1">
              <a:solidFill>
                <a:srgbClr val="6B728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标题">
            <a:extLst>
              <a:ext uri="{FF2B5EF4-FFF2-40B4-BE49-F238E27FC236}">
                <a16:creationId xmlns:a16="http://schemas.microsoft.com/office/drawing/2014/main" id="{83DB2296-8DA7-4ED4-96C8-1114CCDE40AF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岛屿模型与小生境</a:t>
            </a:r>
            <a:r>
              <a:rPr lang="zh-CN" altLang="en-US"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模型：</a:t>
            </a: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多种结合模式</a:t>
            </a:r>
            <a:r>
              <a:rPr lang="zh-CN" altLang="en-US"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独立进化</a:t>
            </a:r>
            <a:endParaRPr sz="300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副标题">
            <a:extLst>
              <a:ext uri="{FF2B5EF4-FFF2-40B4-BE49-F238E27FC236}">
                <a16:creationId xmlns:a16="http://schemas.microsoft.com/office/drawing/2014/main" id="{563D3162-0A6C-4EB9-821C-43ADDB1A3DDF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809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4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多个子种群并行进化；岛内按构象相似性划分小生境</a:t>
            </a:r>
            <a:endParaRPr sz="1425">
              <a:solidFill>
                <a:srgbClr val="4B55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拉马克关键阶段背景">
            <a:extLst>
              <a:ext uri="{FF2B5EF4-FFF2-40B4-BE49-F238E27FC236}">
                <a16:creationId xmlns:a16="http://schemas.microsoft.com/office/drawing/2014/main" id="{BDC6FA77-433D-47F5-B03A-A0E0E417C296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11277600" cy="3009900"/>
          </a:xfrm>
          <a:prstGeom prst="roundRect">
            <a:avLst>
              <a:gd name="adj" fmla="val 7438"/>
            </a:avLst>
          </a:prstGeom>
          <a:solidFill>
            <a:srgbClr val="EFF8FF"/>
          </a:solidFill>
          <a:ln w="9525">
            <a:solidFill>
              <a:srgbClr val="B8E2F7"/>
            </a:solidFill>
            <a:prstDash val="solid"/>
          </a:ln>
        </p:spPr>
      </p:sp>
      <p:sp>
        <p:nvSpPr>
          <p:cNvPr id="5" name="关键阶段标签">
            <a:extLst>
              <a:ext uri="{FF2B5EF4-FFF2-40B4-BE49-F238E27FC236}">
                <a16:creationId xmlns:a16="http://schemas.microsoft.com/office/drawing/2014/main" id="{F0161E96-00B8-49DA-984B-B111979EB65D}"/>
              </a:ext>
            </a:extLst>
          </p:cNvPr>
          <p:cNvSpPr>
            <a:spLocks noGrp="1"/>
          </p:cNvSpPr>
          <p:nvPr/>
        </p:nvSpPr>
        <p:spPr>
          <a:xfrm>
            <a:off x="3209925" y="4429124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岛屿模型：</a:t>
            </a:r>
            <a:r>
              <a:rPr lang="zh-CN" altLang="en-US" sz="12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每个岛屿</a:t>
            </a:r>
            <a:r>
              <a:rPr sz="12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独立进化 + </a:t>
            </a:r>
            <a:r>
              <a:rPr lang="zh-CN" altLang="en-US" sz="12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岛屿间</a:t>
            </a:r>
            <a:r>
              <a:rPr sz="12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周期迁移</a:t>
            </a:r>
            <a:r>
              <a:rPr lang="zh-CN" altLang="en-US" sz="12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分享信息</a:t>
            </a:r>
            <a:endParaRPr sz="1200" b="1">
              <a:solidFill>
                <a:srgbClr val="1675B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island-A">
            <a:extLst>
              <a:ext uri="{FF2B5EF4-FFF2-40B4-BE49-F238E27FC236}">
                <a16:creationId xmlns:a16="http://schemas.microsoft.com/office/drawing/2014/main" id="{627E56E0-41C0-4A85-8787-6073E608E126}"/>
              </a:ext>
            </a:extLst>
          </p:cNvPr>
          <p:cNvSpPr>
            <a:spLocks noGrp="1"/>
          </p:cNvSpPr>
          <p:nvPr/>
        </p:nvSpPr>
        <p:spPr>
          <a:xfrm>
            <a:off x="800100" y="2400300"/>
            <a:ext cx="2857500" cy="1943100"/>
          </a:xfrm>
          <a:prstGeom prst="roundRect">
            <a:avLst>
              <a:gd name="adj" fmla="val 8824"/>
            </a:avLst>
          </a:prstGeom>
          <a:solidFill>
            <a:schemeClr val="accent2">
              <a:lumMod val="20000"/>
              <a:lumOff val="80000"/>
            </a:schemeClr>
          </a:solidFill>
          <a:ln w="11430">
            <a:solidFill>
              <a:srgbClr val="CBD0D8"/>
            </a:solidFill>
            <a:prstDash val="solid"/>
          </a:ln>
        </p:spPr>
      </p:sp>
      <p:sp>
        <p:nvSpPr>
          <p:cNvPr id="46" name="island-badge-A">
            <a:extLst>
              <a:ext uri="{FF2B5EF4-FFF2-40B4-BE49-F238E27FC236}">
                <a16:creationId xmlns:a16="http://schemas.microsoft.com/office/drawing/2014/main" id="{1B7AE8D9-815D-4BD6-85B9-50336BB14595}"/>
              </a:ext>
            </a:extLst>
          </p:cNvPr>
          <p:cNvSpPr>
            <a:spLocks noGrp="1"/>
          </p:cNvSpPr>
          <p:nvPr/>
        </p:nvSpPr>
        <p:spPr>
          <a:xfrm>
            <a:off x="971550" y="2552700"/>
            <a:ext cx="323850" cy="323850"/>
          </a:xfrm>
          <a:prstGeom prst="ellipse">
            <a:avLst/>
          </a:prstGeom>
          <a:solidFill>
            <a:schemeClr val="accent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47" name="island-title-A">
            <a:extLst>
              <a:ext uri="{FF2B5EF4-FFF2-40B4-BE49-F238E27FC236}">
                <a16:creationId xmlns:a16="http://schemas.microsoft.com/office/drawing/2014/main" id="{847CCEC5-2FA6-4A6A-865D-A8291617A8DF}"/>
              </a:ext>
            </a:extLst>
          </p:cNvPr>
          <p:cNvSpPr>
            <a:spLocks noGrp="1"/>
          </p:cNvSpPr>
          <p:nvPr/>
        </p:nvSpPr>
        <p:spPr>
          <a:xfrm>
            <a:off x="1390650" y="2543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子种群 A</a:t>
            </a:r>
          </a:p>
        </p:txBody>
      </p:sp>
      <p:sp>
        <p:nvSpPr>
          <p:cNvPr id="48" name="island-caption-A">
            <a:extLst>
              <a:ext uri="{FF2B5EF4-FFF2-40B4-BE49-F238E27FC236}">
                <a16:creationId xmlns:a16="http://schemas.microsoft.com/office/drawing/2014/main" id="{971BF01B-17AE-4F55-81BB-17ECF310350B}"/>
              </a:ext>
            </a:extLst>
          </p:cNvPr>
          <p:cNvSpPr>
            <a:spLocks noGrp="1"/>
          </p:cNvSpPr>
          <p:nvPr/>
        </p:nvSpPr>
        <p:spPr>
          <a:xfrm>
            <a:off x="971550" y="28956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独立选择 · 交叉 · 变异</a:t>
            </a:r>
          </a:p>
        </p:txBody>
      </p:sp>
      <p:sp>
        <p:nvSpPr>
          <p:cNvPr id="49" name="niche-A-1">
            <a:extLst>
              <a:ext uri="{FF2B5EF4-FFF2-40B4-BE49-F238E27FC236}">
                <a16:creationId xmlns:a16="http://schemas.microsoft.com/office/drawing/2014/main" id="{03257467-D057-4678-AA47-59E6BB65E6A7}"/>
              </a:ext>
            </a:extLst>
          </p:cNvPr>
          <p:cNvSpPr>
            <a:spLocks noGrp="1"/>
          </p:cNvSpPr>
          <p:nvPr/>
        </p:nvSpPr>
        <p:spPr>
          <a:xfrm>
            <a:off x="971550" y="3295650"/>
            <a:ext cx="10668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50" name="niche-A-2">
            <a:extLst>
              <a:ext uri="{FF2B5EF4-FFF2-40B4-BE49-F238E27FC236}">
                <a16:creationId xmlns:a16="http://schemas.microsoft.com/office/drawing/2014/main" id="{CAE8B364-676E-4866-A70C-AF1AD8AE3494}"/>
              </a:ext>
            </a:extLst>
          </p:cNvPr>
          <p:cNvSpPr>
            <a:spLocks noGrp="1"/>
          </p:cNvSpPr>
          <p:nvPr/>
        </p:nvSpPr>
        <p:spPr>
          <a:xfrm>
            <a:off x="2133600" y="3295650"/>
            <a:ext cx="1066800" cy="723900"/>
          </a:xfrm>
          <a:prstGeom prst="roundRect">
            <a:avLst>
              <a:gd name="adj" fmla="val 18421"/>
            </a:avLst>
          </a:prstGeom>
          <a:solidFill>
            <a:srgbClr val="E7F5FC"/>
          </a:solidFill>
          <a:ln w="9525">
            <a:solidFill>
              <a:srgbClr val="B8E2F7"/>
            </a:solidFill>
            <a:prstDash val="solid"/>
          </a:ln>
        </p:spPr>
      </p:sp>
      <p:sp>
        <p:nvSpPr>
          <p:cNvPr id="51" name="niche-label-A-1">
            <a:extLst>
              <a:ext uri="{FF2B5EF4-FFF2-40B4-BE49-F238E27FC236}">
                <a16:creationId xmlns:a16="http://schemas.microsoft.com/office/drawing/2014/main" id="{920E0F4A-1EBE-4F9B-88C6-5A702672D519}"/>
              </a:ext>
            </a:extLst>
          </p:cNvPr>
          <p:cNvSpPr>
            <a:spLocks noGrp="1"/>
          </p:cNvSpPr>
          <p:nvPr/>
        </p:nvSpPr>
        <p:spPr>
          <a:xfrm>
            <a:off x="1038225" y="33528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小生境 1</a:t>
            </a:r>
          </a:p>
        </p:txBody>
      </p:sp>
      <p:sp>
        <p:nvSpPr>
          <p:cNvPr id="52" name="niche-label-A-2">
            <a:extLst>
              <a:ext uri="{FF2B5EF4-FFF2-40B4-BE49-F238E27FC236}">
                <a16:creationId xmlns:a16="http://schemas.microsoft.com/office/drawing/2014/main" id="{A432D273-8FC4-45DB-A18D-A5C817FB3E8B}"/>
              </a:ext>
            </a:extLst>
          </p:cNvPr>
          <p:cNvSpPr>
            <a:spLocks noGrp="1"/>
          </p:cNvSpPr>
          <p:nvPr/>
        </p:nvSpPr>
        <p:spPr>
          <a:xfrm>
            <a:off x="2200275" y="33528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小生境 2</a:t>
            </a:r>
          </a:p>
        </p:txBody>
      </p:sp>
      <p:sp>
        <p:nvSpPr>
          <p:cNvPr id="55" name="pose-A-1">
            <a:extLst>
              <a:ext uri="{FF2B5EF4-FFF2-40B4-BE49-F238E27FC236}">
                <a16:creationId xmlns:a16="http://schemas.microsoft.com/office/drawing/2014/main" id="{513BBD46-9CC0-471E-A7A2-1FF093A3E964}"/>
              </a:ext>
            </a:extLst>
          </p:cNvPr>
          <p:cNvSpPr>
            <a:spLocks noGrp="1"/>
          </p:cNvSpPr>
          <p:nvPr/>
        </p:nvSpPr>
        <p:spPr>
          <a:xfrm>
            <a:off x="1162050" y="3143250"/>
            <a:ext cx="95250" cy="95250"/>
          </a:xfrm>
          <a:prstGeom prst="ellipse">
            <a:avLst/>
          </a:prstGeom>
          <a:solidFill>
            <a:srgbClr val="9CA3AF"/>
          </a:solidFill>
          <a:ln w="0">
            <a:solidFill>
              <a:srgbClr val="9CA3AF"/>
            </a:solidFill>
            <a:prstDash val="solid"/>
          </a:ln>
        </p:spPr>
      </p:sp>
      <p:sp>
        <p:nvSpPr>
          <p:cNvPr id="56" name="pose-A-2">
            <a:extLst>
              <a:ext uri="{FF2B5EF4-FFF2-40B4-BE49-F238E27FC236}">
                <a16:creationId xmlns:a16="http://schemas.microsoft.com/office/drawing/2014/main" id="{06894BA4-3A6B-4065-AA96-2C736640B7B5}"/>
              </a:ext>
            </a:extLst>
          </p:cNvPr>
          <p:cNvSpPr>
            <a:spLocks noGrp="1"/>
          </p:cNvSpPr>
          <p:nvPr/>
        </p:nvSpPr>
        <p:spPr>
          <a:xfrm>
            <a:off x="1333500" y="3190875"/>
            <a:ext cx="95250" cy="95250"/>
          </a:xfrm>
          <a:prstGeom prst="ellipse">
            <a:avLst/>
          </a:prstGeom>
          <a:solidFill>
            <a:srgbClr val="9CA3AF"/>
          </a:solidFill>
          <a:ln w="0">
            <a:solidFill>
              <a:srgbClr val="9CA3AF"/>
            </a:solidFill>
            <a:prstDash val="solid"/>
          </a:ln>
        </p:spPr>
      </p:sp>
      <p:sp>
        <p:nvSpPr>
          <p:cNvPr id="57" name="pose-A-3">
            <a:extLst>
              <a:ext uri="{FF2B5EF4-FFF2-40B4-BE49-F238E27FC236}">
                <a16:creationId xmlns:a16="http://schemas.microsoft.com/office/drawing/2014/main" id="{3CD1F246-4490-4B08-A877-2D50365126D7}"/>
              </a:ext>
            </a:extLst>
          </p:cNvPr>
          <p:cNvSpPr>
            <a:spLocks noGrp="1"/>
          </p:cNvSpPr>
          <p:nvPr/>
        </p:nvSpPr>
        <p:spPr>
          <a:xfrm>
            <a:off x="2457450" y="314325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58" name="pose-A-4">
            <a:extLst>
              <a:ext uri="{FF2B5EF4-FFF2-40B4-BE49-F238E27FC236}">
                <a16:creationId xmlns:a16="http://schemas.microsoft.com/office/drawing/2014/main" id="{CC20C18F-1172-4AF1-AD91-16820BE4404F}"/>
              </a:ext>
            </a:extLst>
          </p:cNvPr>
          <p:cNvSpPr>
            <a:spLocks noGrp="1"/>
          </p:cNvSpPr>
          <p:nvPr/>
        </p:nvSpPr>
        <p:spPr>
          <a:xfrm>
            <a:off x="2628900" y="3190875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59" name="island-B">
            <a:extLst>
              <a:ext uri="{FF2B5EF4-FFF2-40B4-BE49-F238E27FC236}">
                <a16:creationId xmlns:a16="http://schemas.microsoft.com/office/drawing/2014/main" id="{D54C4001-9C95-42F0-B912-A5787879296D}"/>
              </a:ext>
            </a:extLst>
          </p:cNvPr>
          <p:cNvSpPr>
            <a:spLocks noGrp="1"/>
          </p:cNvSpPr>
          <p:nvPr/>
        </p:nvSpPr>
        <p:spPr>
          <a:xfrm>
            <a:off x="4667250" y="2400300"/>
            <a:ext cx="2857500" cy="1943100"/>
          </a:xfrm>
          <a:prstGeom prst="roundRect">
            <a:avLst>
              <a:gd name="adj" fmla="val 8824"/>
            </a:avLst>
          </a:prstGeom>
          <a:solidFill>
            <a:schemeClr val="accent6">
              <a:lumMod val="20000"/>
              <a:lumOff val="80000"/>
            </a:schemeClr>
          </a:solidFill>
          <a:ln w="11430">
            <a:solidFill>
              <a:srgbClr val="CBD0D8"/>
            </a:solidFill>
            <a:prstDash val="solid"/>
          </a:ln>
        </p:spPr>
      </p:sp>
      <p:sp>
        <p:nvSpPr>
          <p:cNvPr id="60" name="island-badge-B">
            <a:extLst>
              <a:ext uri="{FF2B5EF4-FFF2-40B4-BE49-F238E27FC236}">
                <a16:creationId xmlns:a16="http://schemas.microsoft.com/office/drawing/2014/main" id="{968C7A87-7EBF-4CC8-88B6-D702E330B2F9}"/>
              </a:ext>
            </a:extLst>
          </p:cNvPr>
          <p:cNvSpPr>
            <a:spLocks noGrp="1"/>
          </p:cNvSpPr>
          <p:nvPr/>
        </p:nvSpPr>
        <p:spPr>
          <a:xfrm>
            <a:off x="4838700" y="2552700"/>
            <a:ext cx="323850" cy="323850"/>
          </a:xfrm>
          <a:prstGeom prst="ellipse">
            <a:avLst/>
          </a:prstGeom>
          <a:solidFill>
            <a:schemeClr val="accent6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61" name="island-title-B">
            <a:extLst>
              <a:ext uri="{FF2B5EF4-FFF2-40B4-BE49-F238E27FC236}">
                <a16:creationId xmlns:a16="http://schemas.microsoft.com/office/drawing/2014/main" id="{4CC74C10-8920-420A-97E6-C39B0E1514F8}"/>
              </a:ext>
            </a:extLst>
          </p:cNvPr>
          <p:cNvSpPr>
            <a:spLocks noGrp="1"/>
          </p:cNvSpPr>
          <p:nvPr/>
        </p:nvSpPr>
        <p:spPr>
          <a:xfrm>
            <a:off x="5257800" y="2543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chemeClr val="accent6"/>
                </a:solidFill>
                <a:latin typeface="Microsoft YaHei"/>
                <a:ea typeface="Microsoft YaHei"/>
                <a:cs typeface="Microsoft YaHei"/>
              </a:rPr>
              <a:t>子种群 B</a:t>
            </a:r>
          </a:p>
        </p:txBody>
      </p:sp>
      <p:sp>
        <p:nvSpPr>
          <p:cNvPr id="62" name="island-caption-B">
            <a:extLst>
              <a:ext uri="{FF2B5EF4-FFF2-40B4-BE49-F238E27FC236}">
                <a16:creationId xmlns:a16="http://schemas.microsoft.com/office/drawing/2014/main" id="{6DBE183B-D4A4-43D6-B547-2D10130DEEDB}"/>
              </a:ext>
            </a:extLst>
          </p:cNvPr>
          <p:cNvSpPr>
            <a:spLocks noGrp="1"/>
          </p:cNvSpPr>
          <p:nvPr/>
        </p:nvSpPr>
        <p:spPr>
          <a:xfrm>
            <a:off x="4838700" y="28956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独立选择 · 交叉 · 变异</a:t>
            </a:r>
          </a:p>
        </p:txBody>
      </p:sp>
      <p:sp>
        <p:nvSpPr>
          <p:cNvPr id="63" name="niche-B-1">
            <a:extLst>
              <a:ext uri="{FF2B5EF4-FFF2-40B4-BE49-F238E27FC236}">
                <a16:creationId xmlns:a16="http://schemas.microsoft.com/office/drawing/2014/main" id="{BEE23621-4F85-43CA-9614-18F35F4DA160}"/>
              </a:ext>
            </a:extLst>
          </p:cNvPr>
          <p:cNvSpPr>
            <a:spLocks noGrp="1"/>
          </p:cNvSpPr>
          <p:nvPr/>
        </p:nvSpPr>
        <p:spPr>
          <a:xfrm>
            <a:off x="4838700" y="3295650"/>
            <a:ext cx="10668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64" name="niche-B-2">
            <a:extLst>
              <a:ext uri="{FF2B5EF4-FFF2-40B4-BE49-F238E27FC236}">
                <a16:creationId xmlns:a16="http://schemas.microsoft.com/office/drawing/2014/main" id="{446B9163-3DA1-445E-9226-D6B6F79CCB16}"/>
              </a:ext>
            </a:extLst>
          </p:cNvPr>
          <p:cNvSpPr>
            <a:spLocks noGrp="1"/>
          </p:cNvSpPr>
          <p:nvPr/>
        </p:nvSpPr>
        <p:spPr>
          <a:xfrm>
            <a:off x="6000750" y="3295650"/>
            <a:ext cx="1066800" cy="723900"/>
          </a:xfrm>
          <a:prstGeom prst="roundRect">
            <a:avLst>
              <a:gd name="adj" fmla="val 18421"/>
            </a:avLst>
          </a:prstGeom>
          <a:solidFill>
            <a:srgbClr val="E7F5FC"/>
          </a:solidFill>
          <a:ln w="9525">
            <a:solidFill>
              <a:srgbClr val="B8E2F7"/>
            </a:solidFill>
            <a:prstDash val="solid"/>
          </a:ln>
        </p:spPr>
      </p:sp>
      <p:sp>
        <p:nvSpPr>
          <p:cNvPr id="65" name="niche-label-B-1">
            <a:extLst>
              <a:ext uri="{FF2B5EF4-FFF2-40B4-BE49-F238E27FC236}">
                <a16:creationId xmlns:a16="http://schemas.microsoft.com/office/drawing/2014/main" id="{52818167-CFF9-4E7D-AAE9-9095B39078D3}"/>
              </a:ext>
            </a:extLst>
          </p:cNvPr>
          <p:cNvSpPr>
            <a:spLocks noGrp="1"/>
          </p:cNvSpPr>
          <p:nvPr/>
        </p:nvSpPr>
        <p:spPr>
          <a:xfrm>
            <a:off x="4905375" y="33528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小生境 1</a:t>
            </a:r>
          </a:p>
        </p:txBody>
      </p:sp>
      <p:sp>
        <p:nvSpPr>
          <p:cNvPr id="66" name="niche-label-B-2">
            <a:extLst>
              <a:ext uri="{FF2B5EF4-FFF2-40B4-BE49-F238E27FC236}">
                <a16:creationId xmlns:a16="http://schemas.microsoft.com/office/drawing/2014/main" id="{EB73EC7D-4F5B-4FC1-8AA2-46468DC21220}"/>
              </a:ext>
            </a:extLst>
          </p:cNvPr>
          <p:cNvSpPr>
            <a:spLocks noGrp="1"/>
          </p:cNvSpPr>
          <p:nvPr/>
        </p:nvSpPr>
        <p:spPr>
          <a:xfrm>
            <a:off x="6067425" y="33528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小生境 2</a:t>
            </a:r>
          </a:p>
        </p:txBody>
      </p:sp>
      <p:sp>
        <p:nvSpPr>
          <p:cNvPr id="67" name="niche-note-B-1">
            <a:extLst>
              <a:ext uri="{FF2B5EF4-FFF2-40B4-BE49-F238E27FC236}">
                <a16:creationId xmlns:a16="http://schemas.microsoft.com/office/drawing/2014/main" id="{4C0A3954-3324-46D5-9828-BCC7AA8B25BE}"/>
              </a:ext>
            </a:extLst>
          </p:cNvPr>
          <p:cNvSpPr>
            <a:spLocks noGrp="1"/>
          </p:cNvSpPr>
          <p:nvPr/>
        </p:nvSpPr>
        <p:spPr>
          <a:xfrm>
            <a:off x="4905375" y="360045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相近</a:t>
            </a:r>
            <a:r>
              <a:rPr lang="zh-CN" altLang="en-US"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构象</a:t>
            </a:r>
            <a:endParaRPr sz="975" b="0">
              <a:solidFill>
                <a:srgbClr val="6B728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分成一簇</a:t>
            </a:r>
          </a:p>
        </p:txBody>
      </p:sp>
      <p:sp>
        <p:nvSpPr>
          <p:cNvPr id="68" name="niche-note-B-2">
            <a:extLst>
              <a:ext uri="{FF2B5EF4-FFF2-40B4-BE49-F238E27FC236}">
                <a16:creationId xmlns:a16="http://schemas.microsoft.com/office/drawing/2014/main" id="{2156053E-64E3-4CE1-8676-6668FBE5C9BA}"/>
              </a:ext>
            </a:extLst>
          </p:cNvPr>
          <p:cNvSpPr>
            <a:spLocks noGrp="1"/>
          </p:cNvSpPr>
          <p:nvPr/>
        </p:nvSpPr>
        <p:spPr>
          <a:xfrm>
            <a:off x="6067425" y="360045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另一种</a:t>
            </a:r>
          </a:p>
          <a:p>
            <a:pPr algn="ctr">
              <a:defRPr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结合</a:t>
            </a:r>
            <a:r>
              <a:rPr lang="zh-CN" altLang="en-US"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构象</a:t>
            </a:r>
            <a:endParaRPr sz="975" b="0">
              <a:solidFill>
                <a:srgbClr val="1675B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pose-B-1">
            <a:extLst>
              <a:ext uri="{FF2B5EF4-FFF2-40B4-BE49-F238E27FC236}">
                <a16:creationId xmlns:a16="http://schemas.microsoft.com/office/drawing/2014/main" id="{75292C75-0194-4028-A792-66FEB3D0DC8F}"/>
              </a:ext>
            </a:extLst>
          </p:cNvPr>
          <p:cNvSpPr>
            <a:spLocks noGrp="1"/>
          </p:cNvSpPr>
          <p:nvPr/>
        </p:nvSpPr>
        <p:spPr>
          <a:xfrm>
            <a:off x="5029200" y="3143250"/>
            <a:ext cx="95250" cy="95250"/>
          </a:xfrm>
          <a:prstGeom prst="ellipse">
            <a:avLst/>
          </a:prstGeom>
          <a:solidFill>
            <a:srgbClr val="9CA3AF"/>
          </a:solidFill>
          <a:ln w="0">
            <a:solidFill>
              <a:srgbClr val="9CA3AF"/>
            </a:solidFill>
            <a:prstDash val="solid"/>
          </a:ln>
        </p:spPr>
      </p:sp>
      <p:sp>
        <p:nvSpPr>
          <p:cNvPr id="70" name="pose-B-2">
            <a:extLst>
              <a:ext uri="{FF2B5EF4-FFF2-40B4-BE49-F238E27FC236}">
                <a16:creationId xmlns:a16="http://schemas.microsoft.com/office/drawing/2014/main" id="{F56DD19D-180E-429A-A621-94BBEBD78FDE}"/>
              </a:ext>
            </a:extLst>
          </p:cNvPr>
          <p:cNvSpPr>
            <a:spLocks noGrp="1"/>
          </p:cNvSpPr>
          <p:nvPr/>
        </p:nvSpPr>
        <p:spPr>
          <a:xfrm>
            <a:off x="5200650" y="3190875"/>
            <a:ext cx="95250" cy="95250"/>
          </a:xfrm>
          <a:prstGeom prst="ellipse">
            <a:avLst/>
          </a:prstGeom>
          <a:solidFill>
            <a:srgbClr val="9CA3AF"/>
          </a:solidFill>
          <a:ln w="0">
            <a:solidFill>
              <a:srgbClr val="9CA3AF"/>
            </a:solidFill>
            <a:prstDash val="solid"/>
          </a:ln>
        </p:spPr>
      </p:sp>
      <p:sp>
        <p:nvSpPr>
          <p:cNvPr id="71" name="pose-B-3">
            <a:extLst>
              <a:ext uri="{FF2B5EF4-FFF2-40B4-BE49-F238E27FC236}">
                <a16:creationId xmlns:a16="http://schemas.microsoft.com/office/drawing/2014/main" id="{1C3656A2-E2DC-4CBE-B42B-46FBBCC8EF73}"/>
              </a:ext>
            </a:extLst>
          </p:cNvPr>
          <p:cNvSpPr>
            <a:spLocks noGrp="1"/>
          </p:cNvSpPr>
          <p:nvPr/>
        </p:nvSpPr>
        <p:spPr>
          <a:xfrm>
            <a:off x="6324600" y="314325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72" name="pose-B-4">
            <a:extLst>
              <a:ext uri="{FF2B5EF4-FFF2-40B4-BE49-F238E27FC236}">
                <a16:creationId xmlns:a16="http://schemas.microsoft.com/office/drawing/2014/main" id="{90DCC389-400D-4DE8-9EBB-9E991035C4F5}"/>
              </a:ext>
            </a:extLst>
          </p:cNvPr>
          <p:cNvSpPr>
            <a:spLocks noGrp="1"/>
          </p:cNvSpPr>
          <p:nvPr/>
        </p:nvSpPr>
        <p:spPr>
          <a:xfrm>
            <a:off x="6496050" y="3190875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73" name="island-C">
            <a:extLst>
              <a:ext uri="{FF2B5EF4-FFF2-40B4-BE49-F238E27FC236}">
                <a16:creationId xmlns:a16="http://schemas.microsoft.com/office/drawing/2014/main" id="{A1C47DF0-7E80-4791-9837-B2454C3163AA}"/>
              </a:ext>
            </a:extLst>
          </p:cNvPr>
          <p:cNvSpPr>
            <a:spLocks noGrp="1"/>
          </p:cNvSpPr>
          <p:nvPr/>
        </p:nvSpPr>
        <p:spPr>
          <a:xfrm>
            <a:off x="8534400" y="2400300"/>
            <a:ext cx="2857500" cy="1943100"/>
          </a:xfrm>
          <a:prstGeom prst="roundRect">
            <a:avLst>
              <a:gd name="adj" fmla="val 8824"/>
            </a:avLst>
          </a:prstGeom>
          <a:solidFill>
            <a:srgbClr val="EAF5FF"/>
          </a:solidFill>
          <a:ln w="11430">
            <a:solidFill>
              <a:srgbClr val="9ED8F4"/>
            </a:solidFill>
            <a:prstDash val="solid"/>
          </a:ln>
        </p:spPr>
      </p:sp>
      <p:sp>
        <p:nvSpPr>
          <p:cNvPr id="74" name="island-badge-C">
            <a:extLst>
              <a:ext uri="{FF2B5EF4-FFF2-40B4-BE49-F238E27FC236}">
                <a16:creationId xmlns:a16="http://schemas.microsoft.com/office/drawing/2014/main" id="{DAEFF8EB-F6C9-424A-818A-70EAFB47605A}"/>
              </a:ext>
            </a:extLst>
          </p:cNvPr>
          <p:cNvSpPr>
            <a:spLocks noGrp="1"/>
          </p:cNvSpPr>
          <p:nvPr/>
        </p:nvSpPr>
        <p:spPr>
          <a:xfrm>
            <a:off x="8705850" y="2552700"/>
            <a:ext cx="323850" cy="323850"/>
          </a:xfrm>
          <a:prstGeom prst="ellipse">
            <a:avLst/>
          </a:prstGeom>
          <a:solidFill>
            <a:srgbClr val="1675B8"/>
          </a:solidFill>
          <a:ln w="0">
            <a:solidFill>
              <a:srgbClr val="1675B8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75" name="island-title-C">
            <a:extLst>
              <a:ext uri="{FF2B5EF4-FFF2-40B4-BE49-F238E27FC236}">
                <a16:creationId xmlns:a16="http://schemas.microsoft.com/office/drawing/2014/main" id="{996C37CF-33D1-42A0-BE2B-25CA9807E57F}"/>
              </a:ext>
            </a:extLst>
          </p:cNvPr>
          <p:cNvSpPr>
            <a:spLocks noGrp="1"/>
          </p:cNvSpPr>
          <p:nvPr/>
        </p:nvSpPr>
        <p:spPr>
          <a:xfrm>
            <a:off x="9124950" y="2543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子种群 C</a:t>
            </a:r>
          </a:p>
        </p:txBody>
      </p:sp>
      <p:sp>
        <p:nvSpPr>
          <p:cNvPr id="76" name="island-caption-C">
            <a:extLst>
              <a:ext uri="{FF2B5EF4-FFF2-40B4-BE49-F238E27FC236}">
                <a16:creationId xmlns:a16="http://schemas.microsoft.com/office/drawing/2014/main" id="{0A8E5C2F-8300-4E95-A1D7-48D3D3617A4A}"/>
              </a:ext>
            </a:extLst>
          </p:cNvPr>
          <p:cNvSpPr>
            <a:spLocks noGrp="1"/>
          </p:cNvSpPr>
          <p:nvPr/>
        </p:nvSpPr>
        <p:spPr>
          <a:xfrm>
            <a:off x="8705850" y="28956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独立选择 · 交叉 · 变异</a:t>
            </a:r>
          </a:p>
        </p:txBody>
      </p:sp>
      <p:sp>
        <p:nvSpPr>
          <p:cNvPr id="77" name="niche-C-1">
            <a:extLst>
              <a:ext uri="{FF2B5EF4-FFF2-40B4-BE49-F238E27FC236}">
                <a16:creationId xmlns:a16="http://schemas.microsoft.com/office/drawing/2014/main" id="{0658D959-EC33-428B-BAFC-89CB06C6FC91}"/>
              </a:ext>
            </a:extLst>
          </p:cNvPr>
          <p:cNvSpPr>
            <a:spLocks noGrp="1"/>
          </p:cNvSpPr>
          <p:nvPr/>
        </p:nvSpPr>
        <p:spPr>
          <a:xfrm>
            <a:off x="8705850" y="3295650"/>
            <a:ext cx="10668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78" name="niche-C-2">
            <a:extLst>
              <a:ext uri="{FF2B5EF4-FFF2-40B4-BE49-F238E27FC236}">
                <a16:creationId xmlns:a16="http://schemas.microsoft.com/office/drawing/2014/main" id="{F10EC076-A2B9-4CA0-8C47-1DDE4CEF0E0F}"/>
              </a:ext>
            </a:extLst>
          </p:cNvPr>
          <p:cNvSpPr>
            <a:spLocks noGrp="1"/>
          </p:cNvSpPr>
          <p:nvPr/>
        </p:nvSpPr>
        <p:spPr>
          <a:xfrm>
            <a:off x="9867900" y="3295650"/>
            <a:ext cx="1066800" cy="723900"/>
          </a:xfrm>
          <a:prstGeom prst="roundRect">
            <a:avLst>
              <a:gd name="adj" fmla="val 18421"/>
            </a:avLst>
          </a:prstGeom>
          <a:solidFill>
            <a:srgbClr val="D8EEFB"/>
          </a:solidFill>
          <a:ln w="9525">
            <a:solidFill>
              <a:srgbClr val="B8E2F7"/>
            </a:solidFill>
            <a:prstDash val="solid"/>
          </a:ln>
        </p:spPr>
      </p:sp>
      <p:sp>
        <p:nvSpPr>
          <p:cNvPr id="79" name="niche-label-C-1">
            <a:extLst>
              <a:ext uri="{FF2B5EF4-FFF2-40B4-BE49-F238E27FC236}">
                <a16:creationId xmlns:a16="http://schemas.microsoft.com/office/drawing/2014/main" id="{B7609000-1771-4EDB-9102-1F468B805111}"/>
              </a:ext>
            </a:extLst>
          </p:cNvPr>
          <p:cNvSpPr>
            <a:spLocks noGrp="1"/>
          </p:cNvSpPr>
          <p:nvPr/>
        </p:nvSpPr>
        <p:spPr>
          <a:xfrm>
            <a:off x="8772525" y="33528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小生境 1</a:t>
            </a:r>
          </a:p>
        </p:txBody>
      </p:sp>
      <p:sp>
        <p:nvSpPr>
          <p:cNvPr id="80" name="niche-label-C-2">
            <a:extLst>
              <a:ext uri="{FF2B5EF4-FFF2-40B4-BE49-F238E27FC236}">
                <a16:creationId xmlns:a16="http://schemas.microsoft.com/office/drawing/2014/main" id="{B46B9AE1-47D1-4AFC-9C73-686E002D8F7A}"/>
              </a:ext>
            </a:extLst>
          </p:cNvPr>
          <p:cNvSpPr>
            <a:spLocks noGrp="1"/>
          </p:cNvSpPr>
          <p:nvPr/>
        </p:nvSpPr>
        <p:spPr>
          <a:xfrm>
            <a:off x="9934575" y="33528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小生境 2</a:t>
            </a:r>
          </a:p>
        </p:txBody>
      </p:sp>
      <p:sp>
        <p:nvSpPr>
          <p:cNvPr id="81" name="niche-note-C-1">
            <a:extLst>
              <a:ext uri="{FF2B5EF4-FFF2-40B4-BE49-F238E27FC236}">
                <a16:creationId xmlns:a16="http://schemas.microsoft.com/office/drawing/2014/main" id="{1987E5B3-4B8D-47C0-BCAD-6DB6578378D9}"/>
              </a:ext>
            </a:extLst>
          </p:cNvPr>
          <p:cNvSpPr>
            <a:spLocks noGrp="1"/>
          </p:cNvSpPr>
          <p:nvPr/>
        </p:nvSpPr>
        <p:spPr>
          <a:xfrm>
            <a:off x="8772525" y="360045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相近</a:t>
            </a:r>
            <a:r>
              <a:rPr lang="zh-CN" altLang="en-US"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构象</a:t>
            </a:r>
            <a:endParaRPr sz="975" b="0">
              <a:solidFill>
                <a:srgbClr val="6B728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分成一簇</a:t>
            </a:r>
          </a:p>
        </p:txBody>
      </p:sp>
      <p:sp>
        <p:nvSpPr>
          <p:cNvPr id="82" name="niche-note-C-2">
            <a:extLst>
              <a:ext uri="{FF2B5EF4-FFF2-40B4-BE49-F238E27FC236}">
                <a16:creationId xmlns:a16="http://schemas.microsoft.com/office/drawing/2014/main" id="{3A9B12D3-F504-4C6A-BE16-8286D5CFFFFF}"/>
              </a:ext>
            </a:extLst>
          </p:cNvPr>
          <p:cNvSpPr>
            <a:spLocks noGrp="1"/>
          </p:cNvSpPr>
          <p:nvPr/>
        </p:nvSpPr>
        <p:spPr>
          <a:xfrm>
            <a:off x="9934575" y="360045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另一种</a:t>
            </a:r>
          </a:p>
          <a:p>
            <a:pPr algn="ctr">
              <a:defRPr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结合</a:t>
            </a:r>
            <a:r>
              <a:rPr lang="zh-CN" altLang="en-US"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构象</a:t>
            </a:r>
            <a:endParaRPr sz="975" b="0">
              <a:solidFill>
                <a:srgbClr val="1675B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pose-C-1">
            <a:extLst>
              <a:ext uri="{FF2B5EF4-FFF2-40B4-BE49-F238E27FC236}">
                <a16:creationId xmlns:a16="http://schemas.microsoft.com/office/drawing/2014/main" id="{104F1DC8-668E-4333-9112-E3A1B37B63FE}"/>
              </a:ext>
            </a:extLst>
          </p:cNvPr>
          <p:cNvSpPr>
            <a:spLocks noGrp="1"/>
          </p:cNvSpPr>
          <p:nvPr/>
        </p:nvSpPr>
        <p:spPr>
          <a:xfrm>
            <a:off x="8896350" y="3143250"/>
            <a:ext cx="95250" cy="95250"/>
          </a:xfrm>
          <a:prstGeom prst="ellipse">
            <a:avLst/>
          </a:prstGeom>
          <a:solidFill>
            <a:srgbClr val="9CA3AF"/>
          </a:solidFill>
          <a:ln w="0">
            <a:solidFill>
              <a:srgbClr val="9CA3AF"/>
            </a:solidFill>
            <a:prstDash val="solid"/>
          </a:ln>
        </p:spPr>
      </p:sp>
      <p:sp>
        <p:nvSpPr>
          <p:cNvPr id="84" name="pose-C-2">
            <a:extLst>
              <a:ext uri="{FF2B5EF4-FFF2-40B4-BE49-F238E27FC236}">
                <a16:creationId xmlns:a16="http://schemas.microsoft.com/office/drawing/2014/main" id="{F1C1DD15-58F9-44BA-8AF3-071E69B322B2}"/>
              </a:ext>
            </a:extLst>
          </p:cNvPr>
          <p:cNvSpPr>
            <a:spLocks noGrp="1"/>
          </p:cNvSpPr>
          <p:nvPr/>
        </p:nvSpPr>
        <p:spPr>
          <a:xfrm>
            <a:off x="9067800" y="3190875"/>
            <a:ext cx="95250" cy="95250"/>
          </a:xfrm>
          <a:prstGeom prst="ellipse">
            <a:avLst/>
          </a:prstGeom>
          <a:solidFill>
            <a:srgbClr val="9CA3AF"/>
          </a:solidFill>
          <a:ln w="0">
            <a:solidFill>
              <a:srgbClr val="9CA3AF"/>
            </a:solidFill>
            <a:prstDash val="solid"/>
          </a:ln>
        </p:spPr>
      </p:sp>
      <p:sp>
        <p:nvSpPr>
          <p:cNvPr id="85" name="pose-C-3">
            <a:extLst>
              <a:ext uri="{FF2B5EF4-FFF2-40B4-BE49-F238E27FC236}">
                <a16:creationId xmlns:a16="http://schemas.microsoft.com/office/drawing/2014/main" id="{71F23C6C-D60A-4219-87CA-49D6DB7F7F9C}"/>
              </a:ext>
            </a:extLst>
          </p:cNvPr>
          <p:cNvSpPr>
            <a:spLocks noGrp="1"/>
          </p:cNvSpPr>
          <p:nvPr/>
        </p:nvSpPr>
        <p:spPr>
          <a:xfrm>
            <a:off x="10191750" y="314325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86" name="pose-C-4">
            <a:extLst>
              <a:ext uri="{FF2B5EF4-FFF2-40B4-BE49-F238E27FC236}">
                <a16:creationId xmlns:a16="http://schemas.microsoft.com/office/drawing/2014/main" id="{5CEAFCBE-D011-4C0B-95AB-D4F24F08722F}"/>
              </a:ext>
            </a:extLst>
          </p:cNvPr>
          <p:cNvSpPr>
            <a:spLocks noGrp="1"/>
          </p:cNvSpPr>
          <p:nvPr/>
        </p:nvSpPr>
        <p:spPr>
          <a:xfrm>
            <a:off x="10363200" y="3190875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cxnSp>
        <p:nvCxnSpPr>
          <p:cNvPr id="145" name="直接箭头连接符 144"/>
          <p:cNvCxnSpPr>
            <a:stCxn id="45" idx="3"/>
            <a:endCxn id="59" idx="1"/>
          </p:cNvCxnSpPr>
          <p:nvPr/>
        </p:nvCxnSpPr>
        <p:spPr>
          <a:xfrm>
            <a:off x="3657600" y="3371850"/>
            <a:ext cx="1009650" cy="0"/>
          </a:xfrm>
          <a:prstGeom prst="straightConnector1">
            <a:avLst/>
          </a:prstGeom>
          <a:ln w="19050">
            <a:solidFill>
              <a:srgbClr val="3D8DFF"/>
            </a:solidFill>
            <a:prstDash val="dash"/>
            <a:headEnd type="triangle" w="sm" len="sm"/>
            <a:tailEnd type="triangle" w="sm" len="sm"/>
          </a:ln>
        </p:spPr>
      </p:cxnSp>
      <p:cxnSp>
        <p:nvCxnSpPr>
          <p:cNvPr id="146" name="直接箭头连接符 145"/>
          <p:cNvCxnSpPr>
            <a:stCxn id="59" idx="3"/>
            <a:endCxn id="73" idx="1"/>
          </p:cNvCxnSpPr>
          <p:nvPr/>
        </p:nvCxnSpPr>
        <p:spPr>
          <a:xfrm>
            <a:off x="7524750" y="3371850"/>
            <a:ext cx="1009650" cy="0"/>
          </a:xfrm>
          <a:prstGeom prst="straightConnector1">
            <a:avLst/>
          </a:prstGeom>
          <a:ln w="19050">
            <a:solidFill>
              <a:srgbClr val="3D8DFF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89" name="migration-label-1">
            <a:extLst>
              <a:ext uri="{FF2B5EF4-FFF2-40B4-BE49-F238E27FC236}">
                <a16:creationId xmlns:a16="http://schemas.microsoft.com/office/drawing/2014/main" id="{2136FE37-1C7D-4679-9241-9D7E77F0C7DF}"/>
              </a:ext>
            </a:extLst>
          </p:cNvPr>
          <p:cNvSpPr>
            <a:spLocks noGrp="1"/>
          </p:cNvSpPr>
          <p:nvPr/>
        </p:nvSpPr>
        <p:spPr>
          <a:xfrm>
            <a:off x="3390900" y="3128264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周期迁移少量个体</a:t>
            </a:r>
          </a:p>
        </p:txBody>
      </p:sp>
      <p:sp>
        <p:nvSpPr>
          <p:cNvPr id="90" name="migration-label-2">
            <a:extLst>
              <a:ext uri="{FF2B5EF4-FFF2-40B4-BE49-F238E27FC236}">
                <a16:creationId xmlns:a16="http://schemas.microsoft.com/office/drawing/2014/main" id="{60015EFE-3AAA-485C-8567-4D86E79E4E95}"/>
              </a:ext>
            </a:extLst>
          </p:cNvPr>
          <p:cNvSpPr>
            <a:spLocks noGrp="1"/>
          </p:cNvSpPr>
          <p:nvPr/>
        </p:nvSpPr>
        <p:spPr>
          <a:xfrm>
            <a:off x="7258050" y="3128264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周期迁移少量个体</a:t>
            </a:r>
          </a:p>
        </p:txBody>
      </p:sp>
      <p:sp>
        <p:nvSpPr>
          <p:cNvPr id="92" name="niche-callout">
            <a:extLst>
              <a:ext uri="{FF2B5EF4-FFF2-40B4-BE49-F238E27FC236}">
                <a16:creationId xmlns:a16="http://schemas.microsoft.com/office/drawing/2014/main" id="{5E4055F8-3118-4AC3-A240-AD35E3969A36}"/>
              </a:ext>
            </a:extLst>
          </p:cNvPr>
          <p:cNvSpPr>
            <a:spLocks noGrp="1"/>
          </p:cNvSpPr>
          <p:nvPr/>
        </p:nvSpPr>
        <p:spPr>
          <a:xfrm>
            <a:off x="457200" y="5484114"/>
            <a:ext cx="5829300" cy="1066800"/>
          </a:xfrm>
          <a:prstGeom prst="roundRect">
            <a:avLst>
              <a:gd name="adj" fmla="val 10714"/>
            </a:avLst>
          </a:prstGeom>
          <a:solidFill>
            <a:srgbClr val="EFF8FF"/>
          </a:solidFill>
          <a:ln w="9525">
            <a:solidFill>
              <a:srgbClr val="B8E2F7"/>
            </a:solidFill>
            <a:prstDash val="solid"/>
          </a:ln>
        </p:spPr>
      </p:sp>
      <p:sp>
        <p:nvSpPr>
          <p:cNvPr id="93" name="niche-callout-title">
            <a:extLst>
              <a:ext uri="{FF2B5EF4-FFF2-40B4-BE49-F238E27FC236}">
                <a16:creationId xmlns:a16="http://schemas.microsoft.com/office/drawing/2014/main" id="{FF8A3713-D4D2-4C63-B436-B791AB5C46CA}"/>
              </a:ext>
            </a:extLst>
          </p:cNvPr>
          <p:cNvSpPr>
            <a:spLocks noGrp="1"/>
          </p:cNvSpPr>
          <p:nvPr/>
        </p:nvSpPr>
        <p:spPr>
          <a:xfrm>
            <a:off x="685800" y="5636514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小生境的关键作用</a:t>
            </a:r>
          </a:p>
        </p:txBody>
      </p:sp>
      <p:sp>
        <p:nvSpPr>
          <p:cNvPr id="94" name="niche-callout-body">
            <a:extLst>
              <a:ext uri="{FF2B5EF4-FFF2-40B4-BE49-F238E27FC236}">
                <a16:creationId xmlns:a16="http://schemas.microsoft.com/office/drawing/2014/main" id="{1A95124C-CA3C-4A09-919C-38A0CCFB7F37}"/>
              </a:ext>
            </a:extLst>
          </p:cNvPr>
          <p:cNvSpPr>
            <a:spLocks noGrp="1"/>
          </p:cNvSpPr>
          <p:nvPr/>
        </p:nvSpPr>
        <p:spPr>
          <a:xfrm>
            <a:off x="685800" y="5950839"/>
            <a:ext cx="521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让相近构象在同一小生境内竞争或共享适应度，抑制优势姿态对种群的过早垄断，从而维持多样性，使多个可能结合模式继续被探索。</a:t>
            </a:r>
          </a:p>
        </p:txBody>
      </p:sp>
      <p:sp>
        <p:nvSpPr>
          <p:cNvPr id="87" name="niche-note-B-1">
            <a:extLst>
              <a:ext uri="{FF2B5EF4-FFF2-40B4-BE49-F238E27FC236}">
                <a16:creationId xmlns:a16="http://schemas.microsoft.com/office/drawing/2014/main" id="{2DB4076F-39FA-4682-99B6-C15119EEAAF2}"/>
              </a:ext>
            </a:extLst>
          </p:cNvPr>
          <p:cNvSpPr>
            <a:spLocks noGrp="1"/>
          </p:cNvSpPr>
          <p:nvPr/>
        </p:nvSpPr>
        <p:spPr>
          <a:xfrm>
            <a:off x="1038225" y="360045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相近构象</a:t>
            </a:r>
          </a:p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分成一簇</a:t>
            </a:r>
          </a:p>
        </p:txBody>
      </p:sp>
      <p:sp>
        <p:nvSpPr>
          <p:cNvPr id="88" name="niche-note-B-2">
            <a:extLst>
              <a:ext uri="{FF2B5EF4-FFF2-40B4-BE49-F238E27FC236}">
                <a16:creationId xmlns:a16="http://schemas.microsoft.com/office/drawing/2014/main" id="{6D90B894-A751-4337-B10E-0B0018C78054}"/>
              </a:ext>
            </a:extLst>
          </p:cNvPr>
          <p:cNvSpPr>
            <a:spLocks noGrp="1"/>
          </p:cNvSpPr>
          <p:nvPr/>
        </p:nvSpPr>
        <p:spPr>
          <a:xfrm>
            <a:off x="2209800" y="3599561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另一</a:t>
            </a:r>
          </a:p>
          <a:p>
            <a:pPr algn="ctr">
              <a:defRPr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结合</a:t>
            </a:r>
            <a:r>
              <a:rPr lang="zh-CN" altLang="en-US" sz="975" b="0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构象</a:t>
            </a:r>
            <a:endParaRPr sz="975" b="0">
              <a:solidFill>
                <a:srgbClr val="1675B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CE9FE134-9816-4B4D-8600-2E9C64ACBC62}"/>
              </a:ext>
            </a:extLst>
          </p:cNvPr>
          <p:cNvCxnSpPr>
            <a:cxnSpLocks/>
            <a:stCxn id="45" idx="0"/>
            <a:endCxn id="73" idx="0"/>
          </p:cNvCxnSpPr>
          <p:nvPr/>
        </p:nvCxnSpPr>
        <p:spPr>
          <a:xfrm rot="5400000" flipH="1" flipV="1">
            <a:off x="6096000" y="-1466850"/>
            <a:ext cx="12700" cy="7734300"/>
          </a:xfrm>
          <a:prstGeom prst="bentConnector3">
            <a:avLst>
              <a:gd name="adj1" fmla="val 1800000"/>
            </a:avLst>
          </a:prstGeom>
          <a:ln w="19050">
            <a:solidFill>
              <a:srgbClr val="3D8DFF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96" name="migration-label-2">
            <a:extLst>
              <a:ext uri="{FF2B5EF4-FFF2-40B4-BE49-F238E27FC236}">
                <a16:creationId xmlns:a16="http://schemas.microsoft.com/office/drawing/2014/main" id="{6109B21B-80B9-4C66-9066-257591CE996A}"/>
              </a:ext>
            </a:extLst>
          </p:cNvPr>
          <p:cNvSpPr>
            <a:spLocks noGrp="1"/>
          </p:cNvSpPr>
          <p:nvPr/>
        </p:nvSpPr>
        <p:spPr>
          <a:xfrm>
            <a:off x="5325936" y="2179574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周期迁移少量个体</a:t>
            </a:r>
          </a:p>
        </p:txBody>
      </p:sp>
    </p:spTree>
    <p:extLst>
      <p:ext uri="{BB962C8B-B14F-4D97-AF65-F5344CB8AC3E}">
        <p14:creationId xmlns:p14="http://schemas.microsoft.com/office/powerpoint/2010/main" val="784027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264</Words>
  <Application>Microsoft Office PowerPoint</Application>
  <DocSecurity>0</DocSecurity>
  <PresentationFormat>宽屏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Yingshan Jiang</cp:lastModifiedBy>
  <cp:revision>2</cp:revision>
  <dcterms:created xsi:type="dcterms:W3CDTF">2026-09-22T18:21:27Z</dcterms:created>
  <dcterms:modified xsi:type="dcterms:W3CDTF">2026-09-22T19:03:44Z</dcterms:modified>
</cp:coreProperties>
</file>
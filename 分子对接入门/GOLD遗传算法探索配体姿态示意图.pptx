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954" autoAdjust="0"/>
    <p:restoredTop sz="94660"/>
  </p:normalViewPr>
  <p:slideViewPr>
    <p:cSldViewPr snapToGrid="0">
      <p:cViewPr>
        <p:scale>
          <a:sx n="100" d="100"/>
          <a:sy n="100" d="100"/>
        </p:scale>
        <p:origin x="41" y="7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重点：GOLD把每个完整的配体姿态编码为一个个体，并同时维护一群候选姿态。评分函数提供适应度，选择让高分个体获得更多繁殖机会，交叉和变异则不断产生新的位置、朝向与内部构象。达到终止条件后，输出高分候选姿态。</a:t>
            </a:r>
          </a:p>
          <a:p>
            <a:r>
              <a:t>边界：更充分的遗传搜索主要改善构象空间覆盖，并不保证评分函数一定把真实姿态排在第一位。</a:t>
            </a:r>
          </a:p>
          <a:p>
            <a:r>
              <a:t>[Sources]</a:t>
            </a:r>
          </a:p>
          <a:p>
            <a:r>
              <a:t>Jones G, et al. Development and validation of a genetic algorithm for flexible docking. J Mol Biol. 1997. https://doi.org/10.1006/jmbi.1996.0897</a:t>
            </a:r>
          </a:p>
          <a:p>
            <a:r>
              <a:t>Verdonk ML, et al. Improved protein-ligand docking using GOLD. Proteins. 2003. https://doi.org/10.1002/prot.10465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眉题">
            <a:extLst>
              <a:ext uri="{FF2B5EF4-FFF2-40B4-BE49-F238E27FC236}">
                <a16:creationId xmlns:a16="http://schemas.microsoft.com/office/drawing/2014/main" id="{86484487-0025-49BF-A357-D12E13B8643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9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GOLD · </a:t>
            </a:r>
            <a:r>
              <a:rPr lang="zh-CN" altLang="en-US" sz="9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搜索算法</a:t>
            </a:r>
            <a:endParaRPr sz="975" b="1">
              <a:solidFill>
                <a:srgbClr val="6B728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标题">
            <a:extLst>
              <a:ext uri="{FF2B5EF4-FFF2-40B4-BE49-F238E27FC236}">
                <a16:creationId xmlns:a16="http://schemas.microsoft.com/office/drawing/2014/main" id="{83DB2296-8DA7-4ED4-96C8-1114CCDE40AF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遗传算法</a:t>
            </a: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</a:t>
            </a: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配体</a:t>
            </a:r>
            <a:r>
              <a:rPr lang="zh-CN" altLang="en-US"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构象适者生存</a:t>
            </a:r>
            <a:endParaRPr sz="30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副标题">
            <a:extLst>
              <a:ext uri="{FF2B5EF4-FFF2-40B4-BE49-F238E27FC236}">
                <a16:creationId xmlns:a16="http://schemas.microsoft.com/office/drawing/2014/main" id="{563D3162-0A6C-4EB9-821C-43ADDB1A3DDF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每个个体代表一</a:t>
            </a:r>
            <a:r>
              <a:rPr lang="zh-CN" altLang="en-US" sz="14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种配体构象</a:t>
            </a:r>
            <a:r>
              <a:rPr sz="14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（位置、朝向与可旋转键角度）</a:t>
            </a:r>
          </a:p>
        </p:txBody>
      </p:sp>
      <p:sp>
        <p:nvSpPr>
          <p:cNvPr id="4" name="拉马克关键阶段背景">
            <a:extLst>
              <a:ext uri="{FF2B5EF4-FFF2-40B4-BE49-F238E27FC236}">
                <a16:creationId xmlns:a16="http://schemas.microsoft.com/office/drawing/2014/main" id="{BDC6FA77-433D-47F5-B03A-A0E0E417C296}"/>
              </a:ext>
            </a:extLst>
          </p:cNvPr>
          <p:cNvSpPr>
            <a:spLocks noGrp="1"/>
          </p:cNvSpPr>
          <p:nvPr/>
        </p:nvSpPr>
        <p:spPr>
          <a:xfrm>
            <a:off x="6229350" y="1752600"/>
            <a:ext cx="3962400" cy="1982216"/>
          </a:xfrm>
          <a:prstGeom prst="roundRect">
            <a:avLst>
              <a:gd name="adj" fmla="val 7438"/>
            </a:avLst>
          </a:prstGeom>
          <a:solidFill>
            <a:srgbClr val="EFF8FF"/>
          </a:solidFill>
          <a:ln w="9525">
            <a:solidFill>
              <a:srgbClr val="B8E2F7"/>
            </a:solidFill>
            <a:prstDash val="solid"/>
          </a:ln>
        </p:spPr>
      </p:sp>
      <p:sp>
        <p:nvSpPr>
          <p:cNvPr id="5" name="关键阶段标签">
            <a:extLst>
              <a:ext uri="{FF2B5EF4-FFF2-40B4-BE49-F238E27FC236}">
                <a16:creationId xmlns:a16="http://schemas.microsoft.com/office/drawing/2014/main" id="{F0161E96-00B8-49DA-984B-B111979EB65D}"/>
              </a:ext>
            </a:extLst>
          </p:cNvPr>
          <p:cNvSpPr>
            <a:spLocks noGrp="1"/>
          </p:cNvSpPr>
          <p:nvPr/>
        </p:nvSpPr>
        <p:spPr>
          <a:xfrm>
            <a:off x="6419850" y="1847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遗传操作：重组 + 扰动</a:t>
            </a:r>
          </a:p>
        </p:txBody>
      </p:sp>
      <p:sp>
        <p:nvSpPr>
          <p:cNvPr id="6" name="步骤1-初始化种群">
            <a:extLst>
              <a:ext uri="{FF2B5EF4-FFF2-40B4-BE49-F238E27FC236}">
                <a16:creationId xmlns:a16="http://schemas.microsoft.com/office/drawing/2014/main" id="{3BED8202-3048-4CE2-BDC1-5DCF12E323F9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1430">
            <a:solidFill>
              <a:srgbClr val="CBD0D8"/>
            </a:solidFill>
            <a:prstDash val="solid"/>
          </a:ln>
        </p:spPr>
      </p:sp>
      <p:sp>
        <p:nvSpPr>
          <p:cNvPr id="7" name="步骤编号1">
            <a:extLst>
              <a:ext uri="{FF2B5EF4-FFF2-40B4-BE49-F238E27FC236}">
                <a16:creationId xmlns:a16="http://schemas.microsoft.com/office/drawing/2014/main" id="{C26CAF50-EE1B-48B8-839C-FF87C9A7603A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285750" cy="2857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步骤标题1">
            <a:extLst>
              <a:ext uri="{FF2B5EF4-FFF2-40B4-BE49-F238E27FC236}">
                <a16:creationId xmlns:a16="http://schemas.microsoft.com/office/drawing/2014/main" id="{4FE747EE-7F88-459E-8BCD-467B789DC04F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初始化姿态</a:t>
            </a:r>
          </a:p>
        </p:txBody>
      </p:sp>
      <p:sp>
        <p:nvSpPr>
          <p:cNvPr id="9" name="步骤说明1">
            <a:extLst>
              <a:ext uri="{FF2B5EF4-FFF2-40B4-BE49-F238E27FC236}">
                <a16:creationId xmlns:a16="http://schemas.microsoft.com/office/drawing/2014/main" id="{19068BF3-2CFC-4DF8-BC69-638F1126C267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随机生成一群</a:t>
            </a:r>
          </a:p>
          <a:p>
            <a:pPr algn="ctr">
              <a:buNone/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初始配体姿态</a:t>
            </a:r>
          </a:p>
        </p:txBody>
      </p:sp>
      <p:sp>
        <p:nvSpPr>
          <p:cNvPr id="10" name="步骤2-评分与选择">
            <a:extLst>
              <a:ext uri="{FF2B5EF4-FFF2-40B4-BE49-F238E27FC236}">
                <a16:creationId xmlns:a16="http://schemas.microsoft.com/office/drawing/2014/main" id="{968C57EA-882E-45AE-90ED-1F3EB3ABFF44}"/>
              </a:ext>
            </a:extLst>
          </p:cNvPr>
          <p:cNvSpPr>
            <a:spLocks noGrp="1"/>
          </p:cNvSpPr>
          <p:nvPr/>
        </p:nvSpPr>
        <p:spPr>
          <a:xfrm>
            <a:off x="234315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1430">
            <a:solidFill>
              <a:srgbClr val="CBD0D8"/>
            </a:solidFill>
            <a:prstDash val="solid"/>
          </a:ln>
        </p:spPr>
      </p:sp>
      <p:sp>
        <p:nvSpPr>
          <p:cNvPr id="11" name="步骤编号2">
            <a:extLst>
              <a:ext uri="{FF2B5EF4-FFF2-40B4-BE49-F238E27FC236}">
                <a16:creationId xmlns:a16="http://schemas.microsoft.com/office/drawing/2014/main" id="{F236562F-4CDA-40DA-B9DC-3647BDDEBB62}"/>
              </a:ext>
            </a:extLst>
          </p:cNvPr>
          <p:cNvSpPr>
            <a:spLocks noGrp="1"/>
          </p:cNvSpPr>
          <p:nvPr/>
        </p:nvSpPr>
        <p:spPr>
          <a:xfrm>
            <a:off x="2457450" y="2457450"/>
            <a:ext cx="285750" cy="2857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步骤标题2">
            <a:extLst>
              <a:ext uri="{FF2B5EF4-FFF2-40B4-BE49-F238E27FC236}">
                <a16:creationId xmlns:a16="http://schemas.microsoft.com/office/drawing/2014/main" id="{671CF999-8738-4411-8222-6A8C5E1D3030}"/>
              </a:ext>
            </a:extLst>
          </p:cNvPr>
          <p:cNvSpPr>
            <a:spLocks noGrp="1"/>
          </p:cNvSpPr>
          <p:nvPr/>
        </p:nvSpPr>
        <p:spPr>
          <a:xfrm>
            <a:off x="245745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适应度评分</a:t>
            </a:r>
          </a:p>
        </p:txBody>
      </p:sp>
      <p:sp>
        <p:nvSpPr>
          <p:cNvPr id="13" name="步骤说明2">
            <a:extLst>
              <a:ext uri="{FF2B5EF4-FFF2-40B4-BE49-F238E27FC236}">
                <a16:creationId xmlns:a16="http://schemas.microsoft.com/office/drawing/2014/main" id="{A4D6C817-C66C-4DE6-9F5C-87682BA12CD0}"/>
              </a:ext>
            </a:extLst>
          </p:cNvPr>
          <p:cNvSpPr>
            <a:spLocks noGrp="1"/>
          </p:cNvSpPr>
          <p:nvPr/>
        </p:nvSpPr>
        <p:spPr>
          <a:xfrm>
            <a:off x="2343150" y="3086100"/>
            <a:ext cx="1447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用评分函数衡量</a:t>
            </a:r>
          </a:p>
          <a:p>
            <a:pPr algn="ctr">
              <a:buNone/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每个姿态的优劣</a:t>
            </a:r>
          </a:p>
        </p:txBody>
      </p:sp>
      <p:sp>
        <p:nvSpPr>
          <p:cNvPr id="14" name="步骤3-交叉与变异">
            <a:extLst>
              <a:ext uri="{FF2B5EF4-FFF2-40B4-BE49-F238E27FC236}">
                <a16:creationId xmlns:a16="http://schemas.microsoft.com/office/drawing/2014/main" id="{AA0BE5B7-59C7-40C0-B326-7DA8F660A5FA}"/>
              </a:ext>
            </a:extLst>
          </p:cNvPr>
          <p:cNvSpPr>
            <a:spLocks noGrp="1"/>
          </p:cNvSpPr>
          <p:nvPr/>
        </p:nvSpPr>
        <p:spPr>
          <a:xfrm>
            <a:off x="422910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1430">
            <a:solidFill>
              <a:srgbClr val="CBD0D8"/>
            </a:solidFill>
            <a:prstDash val="solid"/>
          </a:ln>
        </p:spPr>
      </p:sp>
      <p:sp>
        <p:nvSpPr>
          <p:cNvPr id="15" name="步骤编号3">
            <a:extLst>
              <a:ext uri="{FF2B5EF4-FFF2-40B4-BE49-F238E27FC236}">
                <a16:creationId xmlns:a16="http://schemas.microsoft.com/office/drawing/2014/main" id="{9C39D744-D1C1-4047-AE30-3C527E6BFF55}"/>
              </a:ext>
            </a:extLst>
          </p:cNvPr>
          <p:cNvSpPr>
            <a:spLocks noGrp="1"/>
          </p:cNvSpPr>
          <p:nvPr/>
        </p:nvSpPr>
        <p:spPr>
          <a:xfrm>
            <a:off x="4343400" y="2457450"/>
            <a:ext cx="285750" cy="2857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步骤标题3">
            <a:extLst>
              <a:ext uri="{FF2B5EF4-FFF2-40B4-BE49-F238E27FC236}">
                <a16:creationId xmlns:a16="http://schemas.microsoft.com/office/drawing/2014/main" id="{B5273594-A473-45C8-9262-B591E4A8ECD3}"/>
              </a:ext>
            </a:extLst>
          </p:cNvPr>
          <p:cNvSpPr>
            <a:spLocks noGrp="1"/>
          </p:cNvSpPr>
          <p:nvPr/>
        </p:nvSpPr>
        <p:spPr>
          <a:xfrm>
            <a:off x="434340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优选个体</a:t>
            </a:r>
          </a:p>
        </p:txBody>
      </p:sp>
      <p:sp>
        <p:nvSpPr>
          <p:cNvPr id="17" name="步骤说明3">
            <a:extLst>
              <a:ext uri="{FF2B5EF4-FFF2-40B4-BE49-F238E27FC236}">
                <a16:creationId xmlns:a16="http://schemas.microsoft.com/office/drawing/2014/main" id="{7D489599-F048-4E72-90D8-20CDDC00F293}"/>
              </a:ext>
            </a:extLst>
          </p:cNvPr>
          <p:cNvSpPr>
            <a:spLocks noGrp="1"/>
          </p:cNvSpPr>
          <p:nvPr/>
        </p:nvSpPr>
        <p:spPr>
          <a:xfrm>
            <a:off x="4343400" y="30861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高分个体获得</a:t>
            </a:r>
          </a:p>
          <a:p>
            <a:pPr algn="ctr">
              <a:buNone/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更多繁殖机会</a:t>
            </a:r>
          </a:p>
        </p:txBody>
      </p:sp>
      <p:sp>
        <p:nvSpPr>
          <p:cNvPr id="18" name="步骤4-局部搜索">
            <a:extLst>
              <a:ext uri="{FF2B5EF4-FFF2-40B4-BE49-F238E27FC236}">
                <a16:creationId xmlns:a16="http://schemas.microsoft.com/office/drawing/2014/main" id="{C9629F02-4358-4330-9C62-623E1D13C4C3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DFF3FD"/>
          </a:solidFill>
          <a:ln w="11430">
            <a:solidFill>
              <a:srgbClr val="6DCBF4"/>
            </a:solidFill>
            <a:prstDash val="solid"/>
          </a:ln>
        </p:spPr>
      </p:sp>
      <p:sp>
        <p:nvSpPr>
          <p:cNvPr id="19" name="步骤编号4">
            <a:extLst>
              <a:ext uri="{FF2B5EF4-FFF2-40B4-BE49-F238E27FC236}">
                <a16:creationId xmlns:a16="http://schemas.microsoft.com/office/drawing/2014/main" id="{1867F8C5-2DF0-4EA2-AE45-A75BEC1CA1AE}"/>
              </a:ext>
            </a:extLst>
          </p:cNvPr>
          <p:cNvSpPr>
            <a:spLocks noGrp="1"/>
          </p:cNvSpPr>
          <p:nvPr/>
        </p:nvSpPr>
        <p:spPr>
          <a:xfrm>
            <a:off x="6515100" y="2457450"/>
            <a:ext cx="285750" cy="2857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步骤标题4">
            <a:extLst>
              <a:ext uri="{FF2B5EF4-FFF2-40B4-BE49-F238E27FC236}">
                <a16:creationId xmlns:a16="http://schemas.microsoft.com/office/drawing/2014/main" id="{67EFBC35-3D7D-4960-8939-5EAFA6144609}"/>
              </a:ext>
            </a:extLst>
          </p:cNvPr>
          <p:cNvSpPr>
            <a:spLocks noGrp="1"/>
          </p:cNvSpPr>
          <p:nvPr/>
        </p:nvSpPr>
        <p:spPr>
          <a:xfrm>
            <a:off x="651510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交叉重组</a:t>
            </a:r>
          </a:p>
        </p:txBody>
      </p:sp>
      <p:sp>
        <p:nvSpPr>
          <p:cNvPr id="21" name="步骤说明4">
            <a:extLst>
              <a:ext uri="{FF2B5EF4-FFF2-40B4-BE49-F238E27FC236}">
                <a16:creationId xmlns:a16="http://schemas.microsoft.com/office/drawing/2014/main" id="{EC6F95BD-0F7C-42F7-B018-A1E0D593C8F9}"/>
              </a:ext>
            </a:extLst>
          </p:cNvPr>
          <p:cNvSpPr>
            <a:spLocks noGrp="1"/>
          </p:cNvSpPr>
          <p:nvPr/>
        </p:nvSpPr>
        <p:spPr>
          <a:xfrm>
            <a:off x="6515100" y="30861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交换构象参数</a:t>
            </a:r>
          </a:p>
          <a:p>
            <a:pPr algn="ctr">
              <a:buNone/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生成新的组合</a:t>
            </a:r>
          </a:p>
        </p:txBody>
      </p:sp>
      <p:sp>
        <p:nvSpPr>
          <p:cNvPr id="22" name="步骤5-写回个体">
            <a:extLst>
              <a:ext uri="{FF2B5EF4-FFF2-40B4-BE49-F238E27FC236}">
                <a16:creationId xmlns:a16="http://schemas.microsoft.com/office/drawing/2014/main" id="{9BD24B14-7BD0-4AFD-AB75-E02FD7539BA3}"/>
              </a:ext>
            </a:extLst>
          </p:cNvPr>
          <p:cNvSpPr>
            <a:spLocks noGrp="1"/>
          </p:cNvSpPr>
          <p:nvPr/>
        </p:nvSpPr>
        <p:spPr>
          <a:xfrm>
            <a:off x="828675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3D8DFF"/>
          </a:solidFill>
          <a:ln w="19050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步骤编号5">
            <a:extLst>
              <a:ext uri="{FF2B5EF4-FFF2-40B4-BE49-F238E27FC236}">
                <a16:creationId xmlns:a16="http://schemas.microsoft.com/office/drawing/2014/main" id="{41D31D1A-EC16-45D0-A9DE-C22AE1CF88FE}"/>
              </a:ext>
            </a:extLst>
          </p:cNvPr>
          <p:cNvSpPr>
            <a:spLocks noGrp="1"/>
          </p:cNvSpPr>
          <p:nvPr/>
        </p:nvSpPr>
        <p:spPr>
          <a:xfrm>
            <a:off x="8401050" y="2457450"/>
            <a:ext cx="285750" cy="2857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步骤标题5">
            <a:extLst>
              <a:ext uri="{FF2B5EF4-FFF2-40B4-BE49-F238E27FC236}">
                <a16:creationId xmlns:a16="http://schemas.microsoft.com/office/drawing/2014/main" id="{613221D9-94E7-4813-893E-392C602A98B7}"/>
              </a:ext>
            </a:extLst>
          </p:cNvPr>
          <p:cNvSpPr>
            <a:spLocks noGrp="1"/>
          </p:cNvSpPr>
          <p:nvPr/>
        </p:nvSpPr>
        <p:spPr>
          <a:xfrm>
            <a:off x="840105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变异与更新</a:t>
            </a:r>
          </a:p>
        </p:txBody>
      </p:sp>
      <p:sp>
        <p:nvSpPr>
          <p:cNvPr id="25" name="步骤说明5">
            <a:extLst>
              <a:ext uri="{FF2B5EF4-FFF2-40B4-BE49-F238E27FC236}">
                <a16:creationId xmlns:a16="http://schemas.microsoft.com/office/drawing/2014/main" id="{90661CAC-A8A8-47F9-8B0E-AC56192E8B13}"/>
              </a:ext>
            </a:extLst>
          </p:cNvPr>
          <p:cNvSpPr>
            <a:spLocks noGrp="1"/>
          </p:cNvSpPr>
          <p:nvPr/>
        </p:nvSpPr>
        <p:spPr>
          <a:xfrm>
            <a:off x="8401050" y="30861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EAF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EAF5FF"/>
                </a:solidFill>
                <a:latin typeface="Microsoft YaHei"/>
                <a:ea typeface="Microsoft YaHei"/>
                <a:cs typeface="Microsoft YaHei"/>
              </a:rPr>
              <a:t>随机扰动参数</a:t>
            </a:r>
          </a:p>
          <a:p>
            <a:pPr algn="ctr">
              <a:buNone/>
              <a:defRPr sz="1125">
                <a:solidFill>
                  <a:srgbClr val="EAF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EAF5FF"/>
                </a:solidFill>
                <a:latin typeface="Microsoft YaHei"/>
                <a:ea typeface="Microsoft YaHei"/>
                <a:cs typeface="Microsoft YaHei"/>
              </a:rPr>
              <a:t>保持种群多样性</a:t>
            </a:r>
          </a:p>
        </p:txBody>
      </p:sp>
      <p:sp>
        <p:nvSpPr>
          <p:cNvPr id="26" name="终止条件判断">
            <a:extLst>
              <a:ext uri="{FF2B5EF4-FFF2-40B4-BE49-F238E27FC236}">
                <a16:creationId xmlns:a16="http://schemas.microsoft.com/office/drawing/2014/main" id="{FFA93710-7D13-4832-825D-B80A9AC6AAAC}"/>
              </a:ext>
            </a:extLst>
          </p:cNvPr>
          <p:cNvSpPr>
            <a:spLocks noGrp="1"/>
          </p:cNvSpPr>
          <p:nvPr/>
        </p:nvSpPr>
        <p:spPr>
          <a:xfrm>
            <a:off x="10461879" y="3564890"/>
            <a:ext cx="1381125" cy="1333500"/>
          </a:xfrm>
          <a:prstGeom prst="diamond">
            <a:avLst/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达到终止</a:t>
            </a:r>
          </a:p>
          <a:p>
            <a:pPr algn="ctr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条件？</a:t>
            </a:r>
          </a:p>
        </p:txBody>
      </p:sp>
      <p:sp>
        <p:nvSpPr>
          <p:cNvPr id="27" name="下一代种群">
            <a:extLst>
              <a:ext uri="{FF2B5EF4-FFF2-40B4-BE49-F238E27FC236}">
                <a16:creationId xmlns:a16="http://schemas.microsoft.com/office/drawing/2014/main" id="{98D55979-4370-41A7-8749-E700C0F4BD6C}"/>
              </a:ext>
            </a:extLst>
          </p:cNvPr>
          <p:cNvSpPr>
            <a:spLocks noGrp="1"/>
          </p:cNvSpPr>
          <p:nvPr/>
        </p:nvSpPr>
        <p:spPr>
          <a:xfrm>
            <a:off x="6191250" y="3839972"/>
            <a:ext cx="1962150" cy="781050"/>
          </a:xfrm>
          <a:prstGeom prst="roundRect">
            <a:avLst>
              <a:gd name="adj" fmla="val 17073"/>
            </a:avLst>
          </a:prstGeom>
          <a:solidFill>
            <a:srgbClr val="F3F4F6"/>
          </a:solidFill>
          <a:ln w="11430">
            <a:solidFill>
              <a:srgbClr val="CBD0D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形成下一代种群</a:t>
            </a:r>
          </a:p>
          <a:p>
            <a:pPr algn="ctr"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重新评分并继续选择</a:t>
            </a:r>
          </a:p>
        </p:txBody>
      </p:sp>
      <p:sp>
        <p:nvSpPr>
          <p:cNvPr id="28" name="输出最佳构象">
            <a:extLst>
              <a:ext uri="{FF2B5EF4-FFF2-40B4-BE49-F238E27FC236}">
                <a16:creationId xmlns:a16="http://schemas.microsoft.com/office/drawing/2014/main" id="{66289408-0398-4627-AC9B-2EA19BBF0F0A}"/>
              </a:ext>
            </a:extLst>
          </p:cNvPr>
          <p:cNvSpPr>
            <a:spLocks noGrp="1"/>
          </p:cNvSpPr>
          <p:nvPr/>
        </p:nvSpPr>
        <p:spPr>
          <a:xfrm>
            <a:off x="10223753" y="5640197"/>
            <a:ext cx="1857375" cy="914400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输出高分对接姿态</a:t>
            </a:r>
          </a:p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及其评分</a:t>
            </a:r>
          </a:p>
        </p:txBody>
      </p:sp>
      <p:cxnSp>
        <p:nvCxnSpPr>
          <p:cNvPr id="149" name="直接箭头连接符 71"/>
          <p:cNvCxnSpPr>
            <a:stCxn id="6" idx="3"/>
            <a:endCxn id="10" idx="1"/>
          </p:cNvCxnSpPr>
          <p:nvPr/>
        </p:nvCxnSpPr>
        <p:spPr>
          <a:xfrm>
            <a:off x="1943100" y="2971800"/>
            <a:ext cx="400050" cy="0"/>
          </a:xfrm>
          <a:prstGeom prst="straightConnector1">
            <a:avLst/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cxnSp>
        <p:nvCxnSpPr>
          <p:cNvPr id="150" name="直接箭头连接符 72"/>
          <p:cNvCxnSpPr>
            <a:stCxn id="10" idx="3"/>
            <a:endCxn id="14" idx="1"/>
          </p:cNvCxnSpPr>
          <p:nvPr/>
        </p:nvCxnSpPr>
        <p:spPr>
          <a:xfrm>
            <a:off x="3829050" y="2971800"/>
            <a:ext cx="400050" cy="0"/>
          </a:xfrm>
          <a:prstGeom prst="straightConnector1">
            <a:avLst/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cxnSp>
        <p:nvCxnSpPr>
          <p:cNvPr id="151" name="直接箭头连接符 73"/>
          <p:cNvCxnSpPr>
            <a:stCxn id="14" idx="3"/>
            <a:endCxn id="18" idx="1"/>
          </p:cNvCxnSpPr>
          <p:nvPr/>
        </p:nvCxnSpPr>
        <p:spPr>
          <a:xfrm>
            <a:off x="5715000" y="2971800"/>
            <a:ext cx="685800" cy="0"/>
          </a:xfrm>
          <a:prstGeom prst="straightConnector1">
            <a:avLst/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cxnSp>
        <p:nvCxnSpPr>
          <p:cNvPr id="152" name="直接箭头连接符 74"/>
          <p:cNvCxnSpPr>
            <a:stCxn id="18" idx="3"/>
            <a:endCxn id="22" idx="1"/>
          </p:cNvCxnSpPr>
          <p:nvPr/>
        </p:nvCxnSpPr>
        <p:spPr>
          <a:xfrm>
            <a:off x="7886700" y="2971800"/>
            <a:ext cx="400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153" name="直接箭头连接符 76"/>
          <p:cNvCxnSpPr>
            <a:stCxn id="26" idx="2"/>
            <a:endCxn id="28" idx="0"/>
          </p:cNvCxnSpPr>
          <p:nvPr/>
        </p:nvCxnSpPr>
        <p:spPr>
          <a:xfrm flipH="1">
            <a:off x="11152441" y="4898390"/>
            <a:ext cx="1" cy="741807"/>
          </a:xfrm>
          <a:prstGeom prst="straightConnector1">
            <a:avLst/>
          </a:prstGeom>
          <a:ln w="20955">
            <a:solidFill>
              <a:srgbClr val="111827"/>
            </a:solidFill>
            <a:prstDash val="solid"/>
            <a:tailEnd type="triangle" w="sm" len="sm"/>
          </a:ln>
        </p:spPr>
      </p:cxnSp>
      <p:cxnSp>
        <p:nvCxnSpPr>
          <p:cNvPr id="154" name="连接符: 肘形 77"/>
          <p:cNvCxnSpPr>
            <a:stCxn id="26" idx="1"/>
            <a:endCxn id="27" idx="3"/>
          </p:cNvCxnSpPr>
          <p:nvPr/>
        </p:nvCxnSpPr>
        <p:spPr>
          <a:xfrm rot="10800000">
            <a:off x="8153401" y="4230498"/>
            <a:ext cx="2308479" cy="1143"/>
          </a:xfrm>
          <a:prstGeom prst="bentConnector3">
            <a:avLst>
              <a:gd name="adj1" fmla="val 50000"/>
            </a:avLst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cxnSp>
        <p:nvCxnSpPr>
          <p:cNvPr id="155" name="连接符: 肘形 78"/>
          <p:cNvCxnSpPr>
            <a:stCxn id="27" idx="1"/>
            <a:endCxn id="10" idx="2"/>
          </p:cNvCxnSpPr>
          <p:nvPr/>
        </p:nvCxnSpPr>
        <p:spPr>
          <a:xfrm rot="10800000">
            <a:off x="3086100" y="3600451"/>
            <a:ext cx="3105150" cy="630047"/>
          </a:xfrm>
          <a:prstGeom prst="bentConnector2">
            <a:avLst/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sp>
        <p:nvSpPr>
          <p:cNvPr id="37" name="是标签">
            <a:extLst>
              <a:ext uri="{FF2B5EF4-FFF2-40B4-BE49-F238E27FC236}">
                <a16:creationId xmlns:a16="http://schemas.microsoft.com/office/drawing/2014/main" id="{DEA37C4C-6F2E-4D76-9E7B-6BC4330F9731}"/>
              </a:ext>
            </a:extLst>
          </p:cNvPr>
          <p:cNvSpPr>
            <a:spLocks noGrp="1"/>
          </p:cNvSpPr>
          <p:nvPr/>
        </p:nvSpPr>
        <p:spPr>
          <a:xfrm>
            <a:off x="11214354" y="5082794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8" name="否标签">
            <a:extLst>
              <a:ext uri="{FF2B5EF4-FFF2-40B4-BE49-F238E27FC236}">
                <a16:creationId xmlns:a16="http://schemas.microsoft.com/office/drawing/2014/main" id="{02F76DCE-2B05-4408-9F87-918A7E4E4D76}"/>
              </a:ext>
            </a:extLst>
          </p:cNvPr>
          <p:cNvSpPr>
            <a:spLocks noGrp="1"/>
          </p:cNvSpPr>
          <p:nvPr/>
        </p:nvSpPr>
        <p:spPr>
          <a:xfrm>
            <a:off x="8963025" y="3918077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9" name="核心解释条">
            <a:extLst>
              <a:ext uri="{FF2B5EF4-FFF2-40B4-BE49-F238E27FC236}">
                <a16:creationId xmlns:a16="http://schemas.microsoft.com/office/drawing/2014/main" id="{8ED55A2B-3DAC-45A3-B635-5673190D7729}"/>
              </a:ext>
            </a:extLst>
          </p:cNvPr>
          <p:cNvSpPr>
            <a:spLocks noGrp="1"/>
          </p:cNvSpPr>
          <p:nvPr/>
        </p:nvSpPr>
        <p:spPr>
          <a:xfrm>
            <a:off x="457200" y="5487797"/>
            <a:ext cx="4953000" cy="1066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ADF"/>
            </a:solidFill>
            <a:prstDash val="solid"/>
          </a:ln>
        </p:spPr>
      </p:sp>
      <p:sp>
        <p:nvSpPr>
          <p:cNvPr id="40" name="核心解释标题">
            <a:extLst>
              <a:ext uri="{FF2B5EF4-FFF2-40B4-BE49-F238E27FC236}">
                <a16:creationId xmlns:a16="http://schemas.microsoft.com/office/drawing/2014/main" id="{673CFB38-BC17-4FE5-928A-4CCBD510A725}"/>
              </a:ext>
            </a:extLst>
          </p:cNvPr>
          <p:cNvSpPr>
            <a:spLocks noGrp="1"/>
          </p:cNvSpPr>
          <p:nvPr/>
        </p:nvSpPr>
        <p:spPr>
          <a:xfrm>
            <a:off x="647700" y="5640197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GOLD 搜索的关键</a:t>
            </a:r>
          </a:p>
        </p:txBody>
      </p:sp>
      <p:sp>
        <p:nvSpPr>
          <p:cNvPr id="41" name="核心解释正文">
            <a:extLst>
              <a:ext uri="{FF2B5EF4-FFF2-40B4-BE49-F238E27FC236}">
                <a16:creationId xmlns:a16="http://schemas.microsoft.com/office/drawing/2014/main" id="{DE8E70E2-7587-450E-B310-5C0F6D22129A}"/>
              </a:ext>
            </a:extLst>
          </p:cNvPr>
          <p:cNvSpPr>
            <a:spLocks noGrp="1"/>
          </p:cNvSpPr>
          <p:nvPr/>
        </p:nvSpPr>
        <p:spPr>
          <a:xfrm>
            <a:off x="647700" y="5944997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同时维护一群完整配体姿态，</a:t>
            </a:r>
          </a:p>
          <a:p>
            <a:pPr>
              <a:buNone/>
              <a:defRPr sz="13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通过选择、交叉与变异扩大搜索范围。</a:t>
            </a:r>
          </a:p>
        </p:txBody>
      </p:sp>
      <p:cxnSp>
        <p:nvCxnSpPr>
          <p:cNvPr id="161" name="连接符: 肘形 44"/>
          <p:cNvCxnSpPr>
            <a:cxnSpLocks/>
            <a:stCxn id="22" idx="3"/>
            <a:endCxn id="26" idx="0"/>
          </p:cNvCxnSpPr>
          <p:nvPr/>
        </p:nvCxnSpPr>
        <p:spPr>
          <a:xfrm>
            <a:off x="9772650" y="2971800"/>
            <a:ext cx="1379792" cy="59309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027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151</Words>
  <Application>Microsoft Office PowerPoint</Application>
  <DocSecurity>0</DocSecurity>
  <PresentationFormat>宽屏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Yingshan Jiang</cp:lastModifiedBy>
  <cp:revision>2</cp:revision>
  <dcterms:created xsi:type="dcterms:W3CDTF">2026-09-22T13:08:04Z</dcterms:created>
  <dcterms:modified xsi:type="dcterms:W3CDTF">2026-09-22T18:28:27Z</dcterms:modified>
</cp:coreProperties>
</file>
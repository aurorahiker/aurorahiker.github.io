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theme/theme2.xml" ContentType="application/vnd.openxmlformats-officedocument.theme+xml"/>
</Types>
</file>

<file path=_rels/.rels>&#65279;<?xml version="1.0" encoding="utf-8"?><Relationships xmlns="http://schemas.openxmlformats.org/package/2006/relationships"><Relationship Type="http://schemas.openxmlformats.org/package/2006/relationships/metadata/core-properties" Target="/docProps/core.xml" Id="R2dfafe05635049e2" /><Relationship Type="http://schemas.openxmlformats.org/officeDocument/2006/relationships/extended-properties" Target="/docProps/app.xml" Id="R6196d05a93d34c86" /><Relationship Type="http://schemas.openxmlformats.org/officeDocument/2006/relationships/officeDocument" Target="/ppt/presentation.xml" Id="R2433318e674f4f05" /></Relationships>
</file>

<file path=ppt/presentation.xml><?xml version="1.0" encoding="utf-8"?>
<p:presentation xmlns:p="http://schemas.openxmlformats.org/presentationml/2006/main">
  <p:sldMasterIdLst>
    <p:sldMasterId xmlns:r="http://schemas.openxmlformats.org/officeDocument/2006/relationships" id="2147483648" r:id="Rd83911b8fcae488c"/>
  </p:sldMasterIdLst>
  <p:notesMasterIdLst>
    <p:notesMasterId xmlns:r="http://schemas.openxmlformats.org/officeDocument/2006/relationships" r:id="R9103a8a163b0494a"/>
  </p:notesMasterIdLst>
  <p:sldIdLst>
    <p:sldId xmlns:r="http://schemas.openxmlformats.org/officeDocument/2006/relationships" id="256" r:id="R482926c7ea514d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9057aba5e8c4009" /><Relationship Type="http://schemas.openxmlformats.org/officeDocument/2006/relationships/slideMaster" Target="/ppt/slideMasters/slideMaster1.xml" Id="Rd83911b8fcae488c" /><Relationship Type="http://schemas.openxmlformats.org/officeDocument/2006/relationships/notesMaster" Target="/ppt/notesMasters/notesMaster1.xml" Id="R9103a8a163b0494a" /><Relationship Type="http://schemas.openxmlformats.org/officeDocument/2006/relationships/presProps" Target="/ppt/presProps.xml" Id="R381d2ea4cbc44b6c" /><Relationship Type="http://schemas.openxmlformats.org/officeDocument/2006/relationships/viewProps" Target="/ppt/viewProps.xml" Id="Rffc3592a0aa94158" /><Relationship Type="http://schemas.openxmlformats.org/officeDocument/2006/relationships/tableStyles" Target="/ppt/tableStyles.xml" Id="R2278cca0b2ea4d04" /><Relationship Type="http://schemas.openxmlformats.org/officeDocument/2006/relationships/slide" Target="/ppt/slides/slide1.xml" Id="R482926c7ea514d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4e15ae687540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1.xml" Id="Rb56a77c3a737474a" /><Relationship Type="http://schemas.openxmlformats.org/officeDocument/2006/relationships/notesMaster" Target="/ppt/notesMasters/notesMaster1.xml" Id="R563b0f1576f247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AutoDock Vina 算法示意图。基于迭代局部搜索的随机全局优化：每个独立运行从随机构象出发，依次进行随机扰动、BFGS 局部优化和 Metropolis 接受判断。图中能量是评分函数计算的近似能量。低能候选接受；能量升高时按 exp((E_old-E_new)/T) 的概率接受，使搜索有机会离开局部低能区域。代码对第一步另作初始化接受处理；教学图概括后续循环。未接受时沿用原姿态。步骤5为条件处理：仅当候选被接受且达到保留条件时再次局部优化并尝试保存，未满足条件则直接进入运行结束判断。源码中的保留条件包括低于当前最佳能量或已保存候选数量尚未达到上限，并按结构差异筛选候选。每次运行的步数由配体及柔性侧链大小和柔性等因素按启发式规则设定，也可受评价次数上限约束。exhaustiveness 决定独立运行次数；各运行可并行执行，实际并行程度还受 CPU 设置与可用资源限制。黑色输出框发生在所有独立运行完成后。更充分的搜索不保证真实结合姿态或准确结合能，评分最低与实验验证是不同层面的信息。</a:t>
            </a:r>
          </a:p>
          <a:p xmlns:a="http://schemas.openxmlformats.org/drawingml/2006/main">
            <a:r>
              <a:t/>
            </a:r>
          </a:p>
          <a:p xmlns:a="http://schemas.openxmlformats.org/drawingml/2006/main">
            <a:r>
              <a:t>[Sources]</a:t>
            </a:r>
          </a:p>
          <a:p xmlns:a="http://schemas.openxmlformats.org/drawingml/2006/main">
            <a:r>
              <a:t>https://autodock-vina.readthedocs.io/en/latest/faq.html</a:t>
            </a:r>
          </a:p>
          <a:p xmlns:a="http://schemas.openxmlformats.org/drawingml/2006/main">
            <a:r>
              <a:t>https://github.com/ccsb-scripps/AutoDock-Vina/blob/develop/src/lib/monte_carlo.cpp</a:t>
            </a:r>
          </a:p>
          <a:p xmlns:a="http://schemas.openxmlformats.org/drawingml/2006/main">
            <a:r>
              <a:t>Visual template: D:/agent/blog/拉马克遗传算法示意图.pptx (user-provided; copied and edited in place).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e3303d2e5549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acc0e0e760428d" /><Relationship Type="http://schemas.openxmlformats.org/officeDocument/2006/relationships/slideLayout" Target="/ppt/slideLayouts/slideLayout1.xml" Id="Rbd8de3dc80054e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8de3dc80054e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8360205eb8491c" /><Relationship Type="http://schemas.openxmlformats.org/officeDocument/2006/relationships/notesSlide" Target="/ppt/notesSlides/notesSlide1.xml" Id="R90920590193f482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眉题">
            <a:extLst xmlns:a="http://schemas.openxmlformats.org/drawingml/2006/main">
              <a:ext uri="{FF2B5EF4-FFF2-40B4-BE49-F238E27FC236}">
                <a16:creationId xmlns:a16="http://schemas.microsoft.com/office/drawing/2014/main" id="{86484487-0025-49BF-A357-D12E13B86433}"/>
              </a:ext>
            </a:extLst>
          </p:cNvPr>
          <p:cNvSpPr>
            <a:spLocks xmlns:a="http://schemas.openxmlformats.org/drawingml/2006/main" noGrp="1"/>
          </p:cNvSpPr>
          <p:nvPr/>
        </p:nvSpPr>
        <p:spPr>
          <a:xfrm xmlns:a="http://schemas.openxmlformats.org/drawingml/2006/main">
            <a:off x="457200" y="28575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975" b="1">
                <a:solidFill>
                  <a:srgbClr val="6B7280"/>
                </a:solidFill>
                <a:latin typeface="Microsoft YaHei"/>
                <a:ea typeface="Microsoft YaHei"/>
                <a:cs typeface="Microsoft YaHei"/>
              </a:defRPr>
            </a:pPr>
            <a:r>
              <a:rPr sz="975" b="1">
                <a:solidFill>
                  <a:srgbClr val="6B7280"/>
                </a:solidFill>
                <a:latin typeface="Microsoft YaHei"/>
                <a:ea typeface="Microsoft YaHei"/>
                <a:cs typeface="Microsoft YaHei"/>
              </a:rPr>
              <a:t>AUTODOCK VINA · 搜索算法</a:t>
            </a:r>
          </a:p>
        </p:txBody>
      </p:sp>
      <p:sp>
        <p:nvSpPr>
          <p:cNvPr id="2" name="标题">
            <a:extLst xmlns:a="http://schemas.openxmlformats.org/drawingml/2006/main">
              <a:ext uri="{FF2B5EF4-FFF2-40B4-BE49-F238E27FC236}">
                <a16:creationId xmlns:a16="http://schemas.microsoft.com/office/drawing/2014/main" id="{83DB2296-8DA7-4ED4-96C8-1114CCDE40AF}"/>
              </a:ext>
            </a:extLst>
          </p:cNvPr>
          <p:cNvSpPr>
            <a:spLocks xmlns:a="http://schemas.openxmlformats.org/drawingml/2006/main" noGrp="1"/>
          </p:cNvSpPr>
          <p:nvPr/>
        </p:nvSpPr>
        <p:spPr>
          <a:xfrm xmlns:a="http://schemas.openxmlformats.org/drawingml/2006/main">
            <a:off x="457200" y="59055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3000" b="1">
                <a:solidFill>
                  <a:srgbClr val="000000"/>
                </a:solidFill>
                <a:latin typeface="Microsoft YaHei"/>
                <a:ea typeface="Microsoft YaHei"/>
                <a:cs typeface="Microsoft YaHei"/>
              </a:defRPr>
            </a:pPr>
            <a:r>
              <a:rPr sz="3000" b="1">
                <a:solidFill>
                  <a:srgbClr val="000000"/>
                </a:solidFill>
                <a:latin typeface="Microsoft YaHei"/>
                <a:ea typeface="Microsoft YaHei"/>
                <a:cs typeface="Microsoft YaHei"/>
              </a:rPr>
              <a:t>迭代局部搜索：随机探索与局部优化相结合</a:t>
            </a:r>
          </a:p>
        </p:txBody>
      </p:sp>
      <p:sp>
        <p:nvSpPr>
          <p:cNvPr id="3" name="副标题">
            <a:extLst xmlns:a="http://schemas.openxmlformats.org/drawingml/2006/main">
              <a:ext uri="{FF2B5EF4-FFF2-40B4-BE49-F238E27FC236}">
                <a16:creationId xmlns:a16="http://schemas.microsoft.com/office/drawing/2014/main" id="{563D3162-0A6C-4EB9-821C-43ADDB1A3DDF}"/>
              </a:ext>
            </a:extLst>
          </p:cNvPr>
          <p:cNvSpPr>
            <a:spLocks xmlns:a="http://schemas.openxmlformats.org/drawingml/2006/main" noGrp="1"/>
          </p:cNvSpPr>
          <p:nvPr/>
        </p:nvSpPr>
        <p:spPr>
          <a:xfrm xmlns:a="http://schemas.openxmlformats.org/drawingml/2006/main">
            <a:off x="457200" y="1200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425">
                <a:solidFill>
                  <a:srgbClr val="4B5563"/>
                </a:solidFill>
                <a:latin typeface="Microsoft YaHei"/>
                <a:ea typeface="Microsoft YaHei"/>
                <a:cs typeface="Microsoft YaHei"/>
              </a:defRPr>
            </a:pPr>
            <a:r>
              <a:rPr sz="1425">
                <a:solidFill>
                  <a:srgbClr val="4B5563"/>
                </a:solidFill>
                <a:latin typeface="Microsoft YaHei"/>
                <a:ea typeface="Microsoft YaHei"/>
                <a:cs typeface="Microsoft YaHei"/>
              </a:rPr>
              <a:t>多个独立运行可并行执行；下图展示一次运行的搜索循环</a:t>
            </a:r>
          </a:p>
        </p:txBody>
      </p:sp>
      <p:sp>
        <p:nvSpPr>
          <p:cNvPr id="4" name="拉马克关键阶段背景">
            <a:extLst xmlns:a="http://schemas.openxmlformats.org/drawingml/2006/main">
              <a:ext uri="{FF2B5EF4-FFF2-40B4-BE49-F238E27FC236}">
                <a16:creationId xmlns:a16="http://schemas.microsoft.com/office/drawing/2014/main" id="{BDC6FA77-433D-47F5-B03A-A0E0E417C296}"/>
              </a:ext>
            </a:extLst>
          </p:cNvPr>
          <p:cNvSpPr>
            <a:spLocks xmlns:a="http://schemas.openxmlformats.org/drawingml/2006/main" noGrp="1"/>
          </p:cNvSpPr>
          <p:nvPr/>
        </p:nvSpPr>
        <p:spPr>
          <a:xfrm xmlns:a="http://schemas.openxmlformats.org/drawingml/2006/main">
            <a:off x="6229350" y="1752600"/>
            <a:ext cx="3962400" cy="1982216"/>
          </a:xfrm>
          <a:prstGeom xmlns:a="http://schemas.openxmlformats.org/drawingml/2006/main" prst="roundRect">
            <a:avLst>
              <a:gd name="adj" fmla="val 7438"/>
            </a:avLst>
          </a:prstGeom>
          <a:solidFill xmlns:a="http://schemas.openxmlformats.org/drawingml/2006/main">
            <a:srgbClr val="EFF8FF"/>
          </a:solidFill>
          <a:ln xmlns:a="http://schemas.openxmlformats.org/drawingml/2006/main" w="9525">
            <a:solidFill>
              <a:srgbClr val="B8E2F7"/>
            </a:solidFill>
            <a:prstDash val="solid"/>
          </a:ln>
        </p:spPr>
      </p:sp>
      <p:sp>
        <p:nvSpPr>
          <p:cNvPr id="5" name="关键阶段标签">
            <a:extLst xmlns:a="http://schemas.openxmlformats.org/drawingml/2006/main">
              <a:ext uri="{FF2B5EF4-FFF2-40B4-BE49-F238E27FC236}">
                <a16:creationId xmlns:a16="http://schemas.microsoft.com/office/drawing/2014/main" id="{F0161E96-00B8-49DA-984B-B111979EB65D}"/>
              </a:ext>
            </a:extLst>
          </p:cNvPr>
          <p:cNvSpPr>
            <a:spLocks xmlns:a="http://schemas.openxmlformats.org/drawingml/2006/main" noGrp="1"/>
          </p:cNvSpPr>
          <p:nvPr/>
        </p:nvSpPr>
        <p:spPr>
          <a:xfrm xmlns:a="http://schemas.openxmlformats.org/drawingml/2006/main">
            <a:off x="641985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1675B8"/>
                </a:solidFill>
                <a:latin typeface="Microsoft YaHei"/>
                <a:ea typeface="Microsoft YaHei"/>
                <a:cs typeface="Microsoft YaHei"/>
              </a:defRPr>
            </a:pPr>
            <a:r>
              <a:rPr sz="1200" b="1">
                <a:solidFill>
                  <a:srgbClr val="1675B8"/>
                </a:solidFill>
                <a:latin typeface="Microsoft YaHei"/>
                <a:ea typeface="Microsoft YaHei"/>
                <a:cs typeface="Microsoft YaHei"/>
              </a:rPr>
              <a:t>Metropolis 接受与候选保留</a:t>
            </a:r>
          </a:p>
        </p:txBody>
      </p:sp>
      <p:sp>
        <p:nvSpPr>
          <p:cNvPr id="6" name="步骤1-初始化种群">
            <a:extLst xmlns:a="http://schemas.openxmlformats.org/drawingml/2006/main">
              <a:ext uri="{FF2B5EF4-FFF2-40B4-BE49-F238E27FC236}">
                <a16:creationId xmlns:a16="http://schemas.microsoft.com/office/drawing/2014/main" id="{3BED8202-3048-4CE2-BDC1-5DCF12E323F9}"/>
              </a:ext>
            </a:extLst>
          </p:cNvPr>
          <p:cNvSpPr>
            <a:spLocks xmlns:a="http://schemas.openxmlformats.org/drawingml/2006/main" noGrp="1"/>
          </p:cNvSpPr>
          <p:nvPr/>
        </p:nvSpPr>
        <p:spPr>
          <a:xfrm xmlns:a="http://schemas.openxmlformats.org/drawingml/2006/main">
            <a:off x="457200" y="2343150"/>
            <a:ext cx="1485900" cy="1257300"/>
          </a:xfrm>
          <a:prstGeom xmlns:a="http://schemas.openxmlformats.org/drawingml/2006/main" prst="roundRect">
            <a:avLst>
              <a:gd name="adj" fmla="val 10606"/>
            </a:avLst>
          </a:prstGeom>
          <a:solidFill xmlns:a="http://schemas.openxmlformats.org/drawingml/2006/main">
            <a:srgbClr val="F3F4F6"/>
          </a:solidFill>
          <a:ln xmlns:a="http://schemas.openxmlformats.org/drawingml/2006/main" w="11430">
            <a:solidFill>
              <a:srgbClr val="CBD0D8"/>
            </a:solidFill>
            <a:prstDash val="solid"/>
          </a:ln>
        </p:spPr>
      </p:sp>
      <p:sp>
        <p:nvSpPr>
          <p:cNvPr id="7" name="步骤编号1">
            <a:extLst xmlns:a="http://schemas.openxmlformats.org/drawingml/2006/main">
              <a:ext uri="{FF2B5EF4-FFF2-40B4-BE49-F238E27FC236}">
                <a16:creationId xmlns:a16="http://schemas.microsoft.com/office/drawing/2014/main" id="{C26CAF50-EE1B-48B8-839C-FF87C9A7603A}"/>
              </a:ext>
            </a:extLst>
          </p:cNvPr>
          <p:cNvSpPr>
            <a:spLocks xmlns:a="http://schemas.openxmlformats.org/drawingml/2006/main" noGrp="1"/>
          </p:cNvSpPr>
          <p:nvPr/>
        </p:nvSpPr>
        <p:spPr>
          <a:xfrm xmlns:a="http://schemas.openxmlformats.org/drawingml/2006/main">
            <a:off x="571500" y="2457450"/>
            <a:ext cx="285750" cy="28575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步骤标题1">
            <a:extLst xmlns:a="http://schemas.openxmlformats.org/drawingml/2006/main">
              <a:ext uri="{FF2B5EF4-FFF2-40B4-BE49-F238E27FC236}">
                <a16:creationId xmlns:a16="http://schemas.microsoft.com/office/drawing/2014/main" id="{4FE747EE-7F88-459E-8BCD-467B789DC04F}"/>
              </a:ext>
            </a:extLst>
          </p:cNvPr>
          <p:cNvSpPr>
            <a:spLocks xmlns:a="http://schemas.openxmlformats.org/drawingml/2006/main" noGrp="1"/>
          </p:cNvSpPr>
          <p:nvPr/>
        </p:nvSpPr>
        <p:spPr>
          <a:xfrm xmlns:a="http://schemas.openxmlformats.org/drawingml/2006/main">
            <a:off x="571500" y="2781300"/>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随机初始化</a:t>
            </a:r>
          </a:p>
        </p:txBody>
      </p:sp>
      <p:sp>
        <p:nvSpPr>
          <p:cNvPr id="9" name="步骤说明1">
            <a:extLst xmlns:a="http://schemas.openxmlformats.org/drawingml/2006/main">
              <a:ext uri="{FF2B5EF4-FFF2-40B4-BE49-F238E27FC236}">
                <a16:creationId xmlns:a16="http://schemas.microsoft.com/office/drawing/2014/main" id="{19068BF3-2CFC-4DF8-BC69-638F1126C267}"/>
              </a:ext>
            </a:extLst>
          </p:cNvPr>
          <p:cNvSpPr>
            <a:spLocks xmlns:a="http://schemas.openxmlformats.org/drawingml/2006/main" noGrp="1"/>
          </p:cNvSpPr>
          <p:nvPr/>
        </p:nvSpPr>
        <p:spPr>
          <a:xfrm xmlns:a="http://schemas.openxmlformats.org/drawingml/2006/main">
            <a:off x="571500" y="3086100"/>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随机生成一个</a:t>
            </a:r>
          </a:p>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初始配体姿态</a:t>
            </a:r>
          </a:p>
        </p:txBody>
      </p:sp>
      <p:sp>
        <p:nvSpPr>
          <p:cNvPr id="10" name="步骤2-评分与选择">
            <a:extLst xmlns:a="http://schemas.openxmlformats.org/drawingml/2006/main">
              <a:ext uri="{FF2B5EF4-FFF2-40B4-BE49-F238E27FC236}">
                <a16:creationId xmlns:a16="http://schemas.microsoft.com/office/drawing/2014/main" id="{968C57EA-882E-45AE-90ED-1F3EB3ABFF44}"/>
              </a:ext>
            </a:extLst>
          </p:cNvPr>
          <p:cNvSpPr>
            <a:spLocks xmlns:a="http://schemas.openxmlformats.org/drawingml/2006/main" noGrp="1"/>
          </p:cNvSpPr>
          <p:nvPr/>
        </p:nvSpPr>
        <p:spPr>
          <a:xfrm xmlns:a="http://schemas.openxmlformats.org/drawingml/2006/main">
            <a:off x="2343150" y="2343150"/>
            <a:ext cx="1485900" cy="1257300"/>
          </a:xfrm>
          <a:prstGeom xmlns:a="http://schemas.openxmlformats.org/drawingml/2006/main" prst="roundRect">
            <a:avLst>
              <a:gd name="adj" fmla="val 10606"/>
            </a:avLst>
          </a:prstGeom>
          <a:solidFill xmlns:a="http://schemas.openxmlformats.org/drawingml/2006/main">
            <a:srgbClr val="F3F4F6"/>
          </a:solidFill>
          <a:ln xmlns:a="http://schemas.openxmlformats.org/drawingml/2006/main" w="11430">
            <a:solidFill>
              <a:srgbClr val="CBD0D8"/>
            </a:solidFill>
            <a:prstDash val="solid"/>
          </a:ln>
        </p:spPr>
      </p:sp>
      <p:sp>
        <p:nvSpPr>
          <p:cNvPr id="11" name="步骤编号2">
            <a:extLst xmlns:a="http://schemas.openxmlformats.org/drawingml/2006/main">
              <a:ext uri="{FF2B5EF4-FFF2-40B4-BE49-F238E27FC236}">
                <a16:creationId xmlns:a16="http://schemas.microsoft.com/office/drawing/2014/main" id="{F236562F-4CDA-40DA-B9DC-3647BDDEBB62}"/>
              </a:ext>
            </a:extLst>
          </p:cNvPr>
          <p:cNvSpPr>
            <a:spLocks xmlns:a="http://schemas.openxmlformats.org/drawingml/2006/main" noGrp="1"/>
          </p:cNvSpPr>
          <p:nvPr/>
        </p:nvSpPr>
        <p:spPr>
          <a:xfrm xmlns:a="http://schemas.openxmlformats.org/drawingml/2006/main">
            <a:off x="2457450" y="2457450"/>
            <a:ext cx="285750" cy="28575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步骤标题2">
            <a:extLst xmlns:a="http://schemas.openxmlformats.org/drawingml/2006/main">
              <a:ext uri="{FF2B5EF4-FFF2-40B4-BE49-F238E27FC236}">
                <a16:creationId xmlns:a16="http://schemas.microsoft.com/office/drawing/2014/main" id="{671CF999-8738-4411-8222-6A8C5E1D3030}"/>
              </a:ext>
            </a:extLst>
          </p:cNvPr>
          <p:cNvSpPr>
            <a:spLocks xmlns:a="http://schemas.openxmlformats.org/drawingml/2006/main" noGrp="1"/>
          </p:cNvSpPr>
          <p:nvPr/>
        </p:nvSpPr>
        <p:spPr>
          <a:xfrm xmlns:a="http://schemas.openxmlformats.org/drawingml/2006/main">
            <a:off x="2457450" y="2781300"/>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随机扰动</a:t>
            </a:r>
          </a:p>
        </p:txBody>
      </p:sp>
      <p:sp>
        <p:nvSpPr>
          <p:cNvPr id="13" name="步骤说明2">
            <a:extLst xmlns:a="http://schemas.openxmlformats.org/drawingml/2006/main">
              <a:ext uri="{FF2B5EF4-FFF2-40B4-BE49-F238E27FC236}">
                <a16:creationId xmlns:a16="http://schemas.microsoft.com/office/drawing/2014/main" id="{A4D6C817-C66C-4DE6-9F5C-87682BA12CD0}"/>
              </a:ext>
            </a:extLst>
          </p:cNvPr>
          <p:cNvSpPr>
            <a:spLocks xmlns:a="http://schemas.openxmlformats.org/drawingml/2006/main" noGrp="1"/>
          </p:cNvSpPr>
          <p:nvPr/>
        </p:nvSpPr>
        <p:spPr>
          <a:xfrm xmlns:a="http://schemas.openxmlformats.org/drawingml/2006/main">
            <a:off x="2343150" y="3086100"/>
            <a:ext cx="1447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改变位置、朝向</a:t>
            </a:r>
            <a:endParaRPr sz="1125">
              <a:solidFill>
                <a:srgbClr val="4B5563"/>
              </a:solidFill>
              <a:latin typeface="Microsoft YaHei"/>
              <a:ea typeface="Microsoft YaHei"/>
              <a:cs typeface="Microsoft YaHei"/>
            </a:endParaRPr>
          </a:p>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或可旋转键角</a:t>
            </a:r>
          </a:p>
        </p:txBody>
      </p:sp>
      <p:sp>
        <p:nvSpPr>
          <p:cNvPr id="14" name="步骤3-交叉与变异">
            <a:extLst xmlns:a="http://schemas.openxmlformats.org/drawingml/2006/main">
              <a:ext uri="{FF2B5EF4-FFF2-40B4-BE49-F238E27FC236}">
                <a16:creationId xmlns:a16="http://schemas.microsoft.com/office/drawing/2014/main" id="{AA0BE5B7-59C7-40C0-B326-7DA8F660A5FA}"/>
              </a:ext>
            </a:extLst>
          </p:cNvPr>
          <p:cNvSpPr>
            <a:spLocks xmlns:a="http://schemas.openxmlformats.org/drawingml/2006/main" noGrp="1"/>
          </p:cNvSpPr>
          <p:nvPr/>
        </p:nvSpPr>
        <p:spPr>
          <a:xfrm xmlns:a="http://schemas.openxmlformats.org/drawingml/2006/main">
            <a:off x="4229100" y="2343150"/>
            <a:ext cx="1485900" cy="1257300"/>
          </a:xfrm>
          <a:prstGeom xmlns:a="http://schemas.openxmlformats.org/drawingml/2006/main" prst="roundRect">
            <a:avLst>
              <a:gd name="adj" fmla="val 10606"/>
            </a:avLst>
          </a:prstGeom>
          <a:solidFill xmlns:a="http://schemas.openxmlformats.org/drawingml/2006/main">
            <a:srgbClr val="F3F4F6"/>
          </a:solidFill>
          <a:ln xmlns:a="http://schemas.openxmlformats.org/drawingml/2006/main" w="11430">
            <a:solidFill>
              <a:srgbClr val="CBD0D8"/>
            </a:solidFill>
            <a:prstDash val="solid"/>
          </a:ln>
        </p:spPr>
      </p:sp>
      <p:sp>
        <p:nvSpPr>
          <p:cNvPr id="15" name="步骤编号3">
            <a:extLst xmlns:a="http://schemas.openxmlformats.org/drawingml/2006/main">
              <a:ext uri="{FF2B5EF4-FFF2-40B4-BE49-F238E27FC236}">
                <a16:creationId xmlns:a16="http://schemas.microsoft.com/office/drawing/2014/main" id="{9C39D744-D1C1-4047-AE30-3C527E6BFF55}"/>
              </a:ext>
            </a:extLst>
          </p:cNvPr>
          <p:cNvSpPr>
            <a:spLocks xmlns:a="http://schemas.openxmlformats.org/drawingml/2006/main" noGrp="1"/>
          </p:cNvSpPr>
          <p:nvPr/>
        </p:nvSpPr>
        <p:spPr>
          <a:xfrm xmlns:a="http://schemas.openxmlformats.org/drawingml/2006/main">
            <a:off x="4343400" y="2457450"/>
            <a:ext cx="285750" cy="285750"/>
          </a:xfrm>
          <a:prstGeom xmlns:a="http://schemas.openxmlformats.org/drawingml/2006/main" prst="ellipse">
            <a:avLst/>
          </a:prstGeom>
          <a:solidFill xmlns:a="http://schemas.openxmlformats.org/drawingml/2006/main">
            <a:srgbClr val="111827"/>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步骤标题3">
            <a:extLst xmlns:a="http://schemas.openxmlformats.org/drawingml/2006/main">
              <a:ext uri="{FF2B5EF4-FFF2-40B4-BE49-F238E27FC236}">
                <a16:creationId xmlns:a16="http://schemas.microsoft.com/office/drawing/2014/main" id="{B5273594-A473-45C8-9262-B591E4A8ECD3}"/>
              </a:ext>
            </a:extLst>
          </p:cNvPr>
          <p:cNvSpPr>
            <a:spLocks xmlns:a="http://schemas.openxmlformats.org/drawingml/2006/main" noGrp="1"/>
          </p:cNvSpPr>
          <p:nvPr/>
        </p:nvSpPr>
        <p:spPr>
          <a:xfrm xmlns:a="http://schemas.openxmlformats.org/drawingml/2006/main">
            <a:off x="4343400" y="2781300"/>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BFGS 优化</a:t>
            </a:r>
          </a:p>
        </p:txBody>
      </p:sp>
      <p:sp>
        <p:nvSpPr>
          <p:cNvPr id="17" name="步骤说明3">
            <a:extLst xmlns:a="http://schemas.openxmlformats.org/drawingml/2006/main">
              <a:ext uri="{FF2B5EF4-FFF2-40B4-BE49-F238E27FC236}">
                <a16:creationId xmlns:a16="http://schemas.microsoft.com/office/drawing/2014/main" id="{7D489599-F048-4E72-90D8-20CDDC00F293}"/>
              </a:ext>
            </a:extLst>
          </p:cNvPr>
          <p:cNvSpPr>
            <a:spLocks xmlns:a="http://schemas.openxmlformats.org/drawingml/2006/main" noGrp="1"/>
          </p:cNvSpPr>
          <p:nvPr/>
        </p:nvSpPr>
        <p:spPr>
          <a:xfrm xmlns:a="http://schemas.openxmlformats.org/drawingml/2006/main">
            <a:off x="4343400" y="3086100"/>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优化当前姿态</a:t>
            </a:r>
          </a:p>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寻找附近低能解</a:t>
            </a:r>
          </a:p>
        </p:txBody>
      </p:sp>
      <p:sp>
        <p:nvSpPr>
          <p:cNvPr id="18" name="步骤4-局部搜索">
            <a:extLst xmlns:a="http://schemas.openxmlformats.org/drawingml/2006/main">
              <a:ext uri="{FF2B5EF4-FFF2-40B4-BE49-F238E27FC236}">
                <a16:creationId xmlns:a16="http://schemas.microsoft.com/office/drawing/2014/main" id="{C9629F02-4358-4330-9C62-623E1D13C4C3}"/>
              </a:ext>
            </a:extLst>
          </p:cNvPr>
          <p:cNvSpPr>
            <a:spLocks xmlns:a="http://schemas.openxmlformats.org/drawingml/2006/main" noGrp="1"/>
          </p:cNvSpPr>
          <p:nvPr/>
        </p:nvSpPr>
        <p:spPr>
          <a:xfrm xmlns:a="http://schemas.openxmlformats.org/drawingml/2006/main">
            <a:off x="6400800" y="2343150"/>
            <a:ext cx="1485900" cy="1257300"/>
          </a:xfrm>
          <a:prstGeom xmlns:a="http://schemas.openxmlformats.org/drawingml/2006/main" prst="roundRect">
            <a:avLst>
              <a:gd name="adj" fmla="val 10606"/>
            </a:avLst>
          </a:prstGeom>
          <a:solidFill xmlns:a="http://schemas.openxmlformats.org/drawingml/2006/main">
            <a:srgbClr val="DFF3FD"/>
          </a:solidFill>
          <a:ln xmlns:a="http://schemas.openxmlformats.org/drawingml/2006/main" w="11430">
            <a:solidFill>
              <a:srgbClr val="6DCBF4"/>
            </a:solidFill>
            <a:prstDash val="solid"/>
          </a:ln>
        </p:spPr>
      </p:sp>
      <p:sp>
        <p:nvSpPr>
          <p:cNvPr id="19" name="步骤编号4">
            <a:extLst xmlns:a="http://schemas.openxmlformats.org/drawingml/2006/main">
              <a:ext uri="{FF2B5EF4-FFF2-40B4-BE49-F238E27FC236}">
                <a16:creationId xmlns:a16="http://schemas.microsoft.com/office/drawing/2014/main" id="{1867F8C5-2DF0-4EA2-AE45-A75BEC1CA1AE}"/>
              </a:ext>
            </a:extLst>
          </p:cNvPr>
          <p:cNvSpPr>
            <a:spLocks xmlns:a="http://schemas.openxmlformats.org/drawingml/2006/main" noGrp="1"/>
          </p:cNvSpPr>
          <p:nvPr/>
        </p:nvSpPr>
        <p:spPr>
          <a:xfrm xmlns:a="http://schemas.openxmlformats.org/drawingml/2006/main">
            <a:off x="6515100" y="2457450"/>
            <a:ext cx="285750" cy="28575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0" name="步骤标题4">
            <a:extLst xmlns:a="http://schemas.openxmlformats.org/drawingml/2006/main">
              <a:ext uri="{FF2B5EF4-FFF2-40B4-BE49-F238E27FC236}">
                <a16:creationId xmlns:a16="http://schemas.microsoft.com/office/drawing/2014/main" id="{67EFBC35-3D7D-4960-8939-5EAFA6144609}"/>
              </a:ext>
            </a:extLst>
          </p:cNvPr>
          <p:cNvSpPr>
            <a:spLocks xmlns:a="http://schemas.openxmlformats.org/drawingml/2006/main" noGrp="1"/>
          </p:cNvSpPr>
          <p:nvPr/>
        </p:nvSpPr>
        <p:spPr>
          <a:xfrm xmlns:a="http://schemas.openxmlformats.org/drawingml/2006/main">
            <a:off x="6515100" y="2781300"/>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111827"/>
                </a:solidFill>
                <a:latin typeface="Microsoft YaHei"/>
                <a:ea typeface="Microsoft YaHei"/>
                <a:cs typeface="Microsoft YaHei"/>
              </a:defRPr>
            </a:pPr>
            <a:r>
              <a:rPr sz="1425" b="1">
                <a:solidFill>
                  <a:srgbClr val="111827"/>
                </a:solidFill>
                <a:latin typeface="Microsoft YaHei"/>
                <a:ea typeface="Microsoft YaHei"/>
                <a:cs typeface="Microsoft YaHei"/>
              </a:rPr>
              <a:t>接受判断</a:t>
            </a:r>
          </a:p>
        </p:txBody>
      </p:sp>
      <p:sp>
        <p:nvSpPr>
          <p:cNvPr id="21" name="步骤说明4">
            <a:extLst xmlns:a="http://schemas.openxmlformats.org/drawingml/2006/main">
              <a:ext uri="{FF2B5EF4-FFF2-40B4-BE49-F238E27FC236}">
                <a16:creationId xmlns:a16="http://schemas.microsoft.com/office/drawing/2014/main" id="{EC6F95BD-0F7C-42F7-B018-A1E0D593C8F9}"/>
              </a:ext>
            </a:extLst>
          </p:cNvPr>
          <p:cNvSpPr>
            <a:spLocks xmlns:a="http://schemas.openxmlformats.org/drawingml/2006/main" noGrp="1"/>
          </p:cNvSpPr>
          <p:nvPr/>
        </p:nvSpPr>
        <p:spPr>
          <a:xfrm xmlns:a="http://schemas.openxmlformats.org/drawingml/2006/main">
            <a:off x="6515100" y="3086100"/>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能量降低就接受</a:t>
            </a:r>
          </a:p>
          <a:p xmlns:a="http://schemas.openxmlformats.org/drawingml/2006/main">
            <a:pPr algn="ctr">
              <a:buNone/>
              <a:defRPr sz="1125">
                <a:solidFill>
                  <a:srgbClr val="4B5563"/>
                </a:solidFill>
                <a:latin typeface="Microsoft YaHei"/>
                <a:ea typeface="Microsoft YaHei"/>
                <a:cs typeface="Microsoft YaHei"/>
              </a:defRPr>
            </a:pPr>
            <a:r>
              <a:rPr sz="1125">
                <a:solidFill>
                  <a:srgbClr val="4B5563"/>
                </a:solidFill>
                <a:latin typeface="Microsoft YaHei"/>
                <a:ea typeface="Microsoft YaHei"/>
                <a:cs typeface="Microsoft YaHei"/>
              </a:rPr>
              <a:t>升高时概率接受</a:t>
            </a:r>
          </a:p>
        </p:txBody>
      </p:sp>
      <p:sp>
        <p:nvSpPr>
          <p:cNvPr id="22" name="步骤5-写回个体">
            <a:extLst xmlns:a="http://schemas.openxmlformats.org/drawingml/2006/main">
              <a:ext uri="{FF2B5EF4-FFF2-40B4-BE49-F238E27FC236}">
                <a16:creationId xmlns:a16="http://schemas.microsoft.com/office/drawing/2014/main" id="{9BD24B14-7BD0-4AFD-AB75-E02FD7539BA3}"/>
              </a:ext>
            </a:extLst>
          </p:cNvPr>
          <p:cNvSpPr>
            <a:spLocks xmlns:a="http://schemas.openxmlformats.org/drawingml/2006/main" noGrp="1"/>
          </p:cNvSpPr>
          <p:nvPr/>
        </p:nvSpPr>
        <p:spPr>
          <a:xfrm xmlns:a="http://schemas.openxmlformats.org/drawingml/2006/main">
            <a:off x="8286750" y="2343150"/>
            <a:ext cx="1485900" cy="1257300"/>
          </a:xfrm>
          <a:prstGeom xmlns:a="http://schemas.openxmlformats.org/drawingml/2006/main" prst="roundRect">
            <a:avLst>
              <a:gd name="adj" fmla="val 10606"/>
            </a:avLst>
          </a:prstGeom>
          <a:solidFill xmlns:a="http://schemas.openxmlformats.org/drawingml/2006/main">
            <a:srgbClr val="3D8DFF"/>
          </a:solidFill>
          <a:ln xmlns:a="http://schemas.openxmlformats.org/drawingml/2006/main" w="19050">
            <a:solidFill>
              <a:srgbClr val="3D8DF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步骤编号5">
            <a:extLst xmlns:a="http://schemas.openxmlformats.org/drawingml/2006/main">
              <a:ext uri="{FF2B5EF4-FFF2-40B4-BE49-F238E27FC236}">
                <a16:creationId xmlns:a16="http://schemas.microsoft.com/office/drawing/2014/main" id="{41D31D1A-EC16-45D0-A9DE-C22AE1CF88FE}"/>
              </a:ext>
            </a:extLst>
          </p:cNvPr>
          <p:cNvSpPr>
            <a:spLocks xmlns:a="http://schemas.openxmlformats.org/drawingml/2006/main" noGrp="1"/>
          </p:cNvSpPr>
          <p:nvPr/>
        </p:nvSpPr>
        <p:spPr>
          <a:xfrm xmlns:a="http://schemas.openxmlformats.org/drawingml/2006/main">
            <a:off x="8401050" y="2457450"/>
            <a:ext cx="285750" cy="2857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3D8DFF"/>
                </a:solidFill>
                <a:latin typeface="Arial"/>
                <a:ea typeface="Arial"/>
                <a:cs typeface="Arial"/>
              </a:defRPr>
            </a:pPr>
            <a:r>
              <a:rPr sz="1200" b="1">
                <a:solidFill>
                  <a:srgbClr val="3D8DFF"/>
                </a:solidFill>
                <a:latin typeface="Arial"/>
                <a:ea typeface="Arial"/>
                <a:cs typeface="Arial"/>
              </a:rPr>
              <a:t>5</a:t>
            </a:r>
          </a:p>
        </p:txBody>
      </p:sp>
      <p:sp>
        <p:nvSpPr>
          <p:cNvPr id="24" name="步骤标题5">
            <a:extLst xmlns:a="http://schemas.openxmlformats.org/drawingml/2006/main">
              <a:ext uri="{FF2B5EF4-FFF2-40B4-BE49-F238E27FC236}">
                <a16:creationId xmlns:a16="http://schemas.microsoft.com/office/drawing/2014/main" id="{613221D9-94E7-4813-893E-392C602A98B7}"/>
              </a:ext>
            </a:extLst>
          </p:cNvPr>
          <p:cNvSpPr>
            <a:spLocks xmlns:a="http://schemas.openxmlformats.org/drawingml/2006/main" noGrp="1"/>
          </p:cNvSpPr>
          <p:nvPr/>
        </p:nvSpPr>
        <p:spPr>
          <a:xfrm xmlns:a="http://schemas.openxmlformats.org/drawingml/2006/main">
            <a:off x="8401050" y="2781300"/>
            <a:ext cx="125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FFFFFF"/>
                </a:solidFill>
                <a:latin typeface="Microsoft YaHei"/>
                <a:ea typeface="Microsoft YaHei"/>
                <a:cs typeface="Microsoft YaHei"/>
              </a:defRPr>
            </a:pPr>
            <a:r>
              <a:rPr sz="1425" b="1">
                <a:solidFill>
                  <a:srgbClr val="FFFFFF"/>
                </a:solidFill>
                <a:latin typeface="Microsoft YaHei"/>
                <a:ea typeface="Microsoft YaHei"/>
                <a:cs typeface="Microsoft YaHei"/>
              </a:rPr>
              <a:t>按条件保存</a:t>
            </a:r>
          </a:p>
        </p:txBody>
      </p:sp>
      <p:sp>
        <p:nvSpPr>
          <p:cNvPr id="25" name="步骤说明5">
            <a:extLst xmlns:a="http://schemas.openxmlformats.org/drawingml/2006/main">
              <a:ext uri="{FF2B5EF4-FFF2-40B4-BE49-F238E27FC236}">
                <a16:creationId xmlns:a16="http://schemas.microsoft.com/office/drawing/2014/main" id="{90661CAC-A8A8-47F9-8B0E-AC56192E8B13}"/>
              </a:ext>
            </a:extLst>
          </p:cNvPr>
          <p:cNvSpPr>
            <a:spLocks xmlns:a="http://schemas.openxmlformats.org/drawingml/2006/main" noGrp="1"/>
          </p:cNvSpPr>
          <p:nvPr/>
        </p:nvSpPr>
        <p:spPr>
          <a:xfrm xmlns:a="http://schemas.openxmlformats.org/drawingml/2006/main">
            <a:off x="8401050" y="3086100"/>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a:solidFill>
                  <a:srgbClr val="EAF5FF"/>
                </a:solidFill>
                <a:latin typeface="Microsoft YaHei"/>
                <a:ea typeface="Microsoft YaHei"/>
                <a:cs typeface="Microsoft YaHei"/>
              </a:defRPr>
            </a:pPr>
            <a:r>
              <a:rPr sz="1125">
                <a:solidFill>
                  <a:srgbClr val="EAF5FF"/>
                </a:solidFill>
                <a:latin typeface="Microsoft YaHei"/>
                <a:ea typeface="Microsoft YaHei"/>
                <a:cs typeface="Microsoft YaHei"/>
              </a:rPr>
              <a:t>已接受的优选解</a:t>
            </a:r>
          </a:p>
          <a:p xmlns:a="http://schemas.openxmlformats.org/drawingml/2006/main">
            <a:pPr algn="ctr">
              <a:buNone/>
              <a:defRPr sz="1125">
                <a:solidFill>
                  <a:srgbClr val="EAF5FF"/>
                </a:solidFill>
                <a:latin typeface="Microsoft YaHei"/>
                <a:ea typeface="Microsoft YaHei"/>
                <a:cs typeface="Microsoft YaHei"/>
              </a:defRPr>
            </a:pPr>
            <a:r>
              <a:rPr sz="1125">
                <a:solidFill>
                  <a:srgbClr val="EAF5FF"/>
                </a:solidFill>
                <a:latin typeface="Microsoft YaHei"/>
                <a:ea typeface="Microsoft YaHei"/>
                <a:cs typeface="Microsoft YaHei"/>
              </a:rPr>
              <a:t>再优化并保存</a:t>
            </a:r>
          </a:p>
        </p:txBody>
      </p:sp>
      <p:sp>
        <p:nvSpPr>
          <p:cNvPr id="26" name="终止条件判断">
            <a:extLst xmlns:a="http://schemas.openxmlformats.org/drawingml/2006/main">
              <a:ext uri="{FF2B5EF4-FFF2-40B4-BE49-F238E27FC236}">
                <a16:creationId xmlns:a16="http://schemas.microsoft.com/office/drawing/2014/main" id="{FFA93710-7D13-4832-825D-B80A9AC6AAAC}"/>
              </a:ext>
            </a:extLst>
          </p:cNvPr>
          <p:cNvSpPr>
            <a:spLocks xmlns:a="http://schemas.openxmlformats.org/drawingml/2006/main" noGrp="1"/>
          </p:cNvSpPr>
          <p:nvPr/>
        </p:nvSpPr>
        <p:spPr>
          <a:xfrm xmlns:a="http://schemas.openxmlformats.org/drawingml/2006/main">
            <a:off x="10009441" y="3564890"/>
            <a:ext cx="1524000" cy="1333500"/>
          </a:xfrm>
          <a:prstGeom xmlns:a="http://schemas.openxmlformats.org/drawingml/2006/main" prst="diamond">
            <a:avLst/>
          </a:prstGeom>
          <a:solidFill xmlns:a="http://schemas.openxmlformats.org/drawingml/2006/main">
            <a:srgbClr val="FFFFFF"/>
          </a:solidFill>
          <a:ln xmlns:a="http://schemas.openxmlformats.org/drawingml/2006/main" w="14288">
            <a:solidFill>
              <a:srgbClr val="111827"/>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111827"/>
                </a:solidFill>
                <a:latin typeface="Microsoft YaHei"/>
                <a:ea typeface="Microsoft YaHei"/>
                <a:cs typeface="Microsoft YaHei"/>
              </a:defRPr>
            </a:pPr>
            <a:r>
              <a:rPr sz="1350" b="1">
                <a:solidFill>
                  <a:srgbClr val="111827"/>
                </a:solidFill>
                <a:latin typeface="Microsoft YaHei"/>
                <a:ea typeface="Microsoft YaHei"/>
                <a:cs typeface="Microsoft YaHei"/>
              </a:rPr>
              <a:t>运行</a:t>
            </a:r>
          </a:p>
          <a:p xmlns:a="http://schemas.openxmlformats.org/drawingml/2006/main">
            <a:pPr algn="ctr">
              <a:buNone/>
              <a:defRPr sz="1350" b="1">
                <a:solidFill>
                  <a:srgbClr val="111827"/>
                </a:solidFill>
                <a:latin typeface="Microsoft YaHei"/>
                <a:ea typeface="Microsoft YaHei"/>
                <a:cs typeface="Microsoft YaHei"/>
              </a:defRPr>
            </a:pPr>
            <a:r>
              <a:rPr sz="1350" b="1">
                <a:solidFill>
                  <a:srgbClr val="111827"/>
                </a:solidFill>
                <a:latin typeface="Microsoft YaHei"/>
                <a:ea typeface="Microsoft YaHei"/>
                <a:cs typeface="Microsoft YaHei"/>
              </a:rPr>
              <a:t>结束？</a:t>
            </a:r>
          </a:p>
        </p:txBody>
      </p:sp>
      <p:sp>
        <p:nvSpPr>
          <p:cNvPr id="27" name="下一代种群">
            <a:extLst xmlns:a="http://schemas.openxmlformats.org/drawingml/2006/main">
              <a:ext uri="{FF2B5EF4-FFF2-40B4-BE49-F238E27FC236}">
                <a16:creationId xmlns:a16="http://schemas.microsoft.com/office/drawing/2014/main" id="{98D55979-4370-41A7-8749-E700C0F4BD6C}"/>
              </a:ext>
            </a:extLst>
          </p:cNvPr>
          <p:cNvSpPr>
            <a:spLocks xmlns:a="http://schemas.openxmlformats.org/drawingml/2006/main" noGrp="1"/>
          </p:cNvSpPr>
          <p:nvPr/>
        </p:nvSpPr>
        <p:spPr>
          <a:xfrm xmlns:a="http://schemas.openxmlformats.org/drawingml/2006/main">
            <a:off x="6191250" y="3839972"/>
            <a:ext cx="1962150" cy="781050"/>
          </a:xfrm>
          <a:prstGeom xmlns:a="http://schemas.openxmlformats.org/drawingml/2006/main" prst="roundRect">
            <a:avLst>
              <a:gd name="adj" fmla="val 17073"/>
            </a:avLst>
          </a:prstGeom>
          <a:solidFill xmlns:a="http://schemas.openxmlformats.org/drawingml/2006/main">
            <a:srgbClr val="F3F4F6"/>
          </a:solidFill>
          <a:ln xmlns:a="http://schemas.openxmlformats.org/drawingml/2006/main" w="11430">
            <a:solidFill>
              <a:srgbClr val="CBD0D8"/>
            </a:solid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111827"/>
                </a:solidFill>
                <a:latin typeface="Microsoft YaHei"/>
                <a:ea typeface="Microsoft YaHei"/>
                <a:cs typeface="Microsoft YaHei"/>
              </a:defRPr>
            </a:pPr>
            <a:r>
              <a:rPr sz="1275" b="1">
                <a:solidFill>
                  <a:srgbClr val="111827"/>
                </a:solidFill>
                <a:latin typeface="Microsoft YaHei"/>
                <a:ea typeface="Microsoft YaHei"/>
                <a:cs typeface="Microsoft YaHei"/>
              </a:rPr>
              <a:t>进入下一步</a:t>
            </a:r>
          </a:p>
          <a:p xmlns:a="http://schemas.openxmlformats.org/drawingml/2006/main">
            <a:pPr algn="ctr">
              <a:buNone/>
              <a:defRPr sz="1275" b="1">
                <a:solidFill>
                  <a:srgbClr val="111827"/>
                </a:solidFill>
                <a:latin typeface="Microsoft YaHei"/>
                <a:ea typeface="Microsoft YaHei"/>
                <a:cs typeface="Microsoft YaHei"/>
              </a:defRPr>
            </a:pPr>
            <a:r>
              <a:rPr sz="1275" b="1">
                <a:solidFill>
                  <a:srgbClr val="111827"/>
                </a:solidFill>
                <a:latin typeface="Microsoft YaHei"/>
                <a:ea typeface="Microsoft YaHei"/>
                <a:cs typeface="Microsoft YaHei"/>
              </a:rPr>
              <a:t>未接受则沿用原姿态</a:t>
            </a:r>
          </a:p>
        </p:txBody>
      </p:sp>
      <p:sp>
        <p:nvSpPr>
          <p:cNvPr id="28" name="输出最佳构象">
            <a:extLst xmlns:a="http://schemas.openxmlformats.org/drawingml/2006/main">
              <a:ext uri="{FF2B5EF4-FFF2-40B4-BE49-F238E27FC236}">
                <a16:creationId xmlns:a16="http://schemas.microsoft.com/office/drawing/2014/main" id="{66289408-0398-4627-AC9B-2EA19BBF0F0A}"/>
              </a:ext>
            </a:extLst>
          </p:cNvPr>
          <p:cNvSpPr>
            <a:spLocks xmlns:a="http://schemas.openxmlformats.org/drawingml/2006/main" noGrp="1"/>
          </p:cNvSpPr>
          <p:nvPr/>
        </p:nvSpPr>
        <p:spPr>
          <a:xfrm xmlns:a="http://schemas.openxmlformats.org/drawingml/2006/main">
            <a:off x="9842754" y="5640197"/>
            <a:ext cx="1857375" cy="914400"/>
          </a:xfrm>
          <a:prstGeom xmlns:a="http://schemas.openxmlformats.org/drawingml/2006/main" prst="roundRect">
            <a:avLst>
              <a:gd name="adj" fmla="val 14583"/>
            </a:avLst>
          </a:prstGeom>
          <a:solidFill xmlns:a="http://schemas.openxmlformats.org/drawingml/2006/main">
            <a:srgbClr val="111827"/>
          </a:solidFill>
          <a:ln xmlns:a="http://schemas.openxmlformats.org/drawingml/2006/main" w="9525">
            <a:solidFill>
              <a:srgbClr val="111827"/>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合并·精炼·聚类</a:t>
            </a:r>
          </a:p>
          <a:p xmlns:a="http://schemas.openxmlformats.org/drawingml/2006/main">
            <a:pPr algn="ctr">
              <a:buNone/>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排序后输出姿态</a:t>
            </a:r>
          </a:p>
        </p:txBody>
      </p:sp>
      <p:cxnSp>
        <p:nvCxnSpPr>
          <p:cNvPr id="149" name="直接箭头连接符 71"/>
          <p:cNvCxnSpPr>
            <a:stCxn xmlns:a="http://schemas.openxmlformats.org/drawingml/2006/main" id="6" idx="3"/>
            <a:endCxn xmlns:a="http://schemas.openxmlformats.org/drawingml/2006/main" id="10" idx="1"/>
          </p:cNvCxnSpPr>
          <p:nvPr/>
        </p:nvCxnSpPr>
        <p:spPr>
          <a:xfrm xmlns:a="http://schemas.openxmlformats.org/drawingml/2006/main">
            <a:off x="1943100" y="2971800"/>
            <a:ext cx="400050" cy="0"/>
          </a:xfrm>
          <a:prstGeom xmlns:a="http://schemas.openxmlformats.org/drawingml/2006/main" prst="straightConnector1">
            <a:avLst/>
          </a:prstGeom>
          <a:ln xmlns:a="http://schemas.openxmlformats.org/drawingml/2006/main" w="20955">
            <a:solidFill>
              <a:srgbClr val="6B7280"/>
            </a:solidFill>
            <a:prstDash val="solid"/>
            <a:tailEnd type="triangle" w="sm" len="sm"/>
          </a:ln>
        </p:spPr>
      </p:cxnSp>
      <p:cxnSp>
        <p:nvCxnSpPr>
          <p:cNvPr id="150" name="直接箭头连接符 72"/>
          <p:cNvCxnSpPr>
            <a:stCxn xmlns:a="http://schemas.openxmlformats.org/drawingml/2006/main" id="10" idx="3"/>
            <a:endCxn xmlns:a="http://schemas.openxmlformats.org/drawingml/2006/main" id="14" idx="1"/>
          </p:cNvCxnSpPr>
          <p:nvPr/>
        </p:nvCxnSpPr>
        <p:spPr>
          <a:xfrm xmlns:a="http://schemas.openxmlformats.org/drawingml/2006/main">
            <a:off x="3829050" y="2971800"/>
            <a:ext cx="400050" cy="0"/>
          </a:xfrm>
          <a:prstGeom xmlns:a="http://schemas.openxmlformats.org/drawingml/2006/main" prst="straightConnector1">
            <a:avLst/>
          </a:prstGeom>
          <a:ln xmlns:a="http://schemas.openxmlformats.org/drawingml/2006/main" w="20955">
            <a:solidFill>
              <a:srgbClr val="6B7280"/>
            </a:solidFill>
            <a:prstDash val="solid"/>
            <a:tailEnd type="triangle" w="sm" len="sm"/>
          </a:ln>
        </p:spPr>
      </p:cxnSp>
      <p:cxnSp>
        <p:nvCxnSpPr>
          <p:cNvPr id="151" name="直接箭头连接符 73"/>
          <p:cNvCxnSpPr>
            <a:stCxn xmlns:a="http://schemas.openxmlformats.org/drawingml/2006/main" id="14" idx="3"/>
            <a:endCxn xmlns:a="http://schemas.openxmlformats.org/drawingml/2006/main" id="18" idx="1"/>
          </p:cNvCxnSpPr>
          <p:nvPr/>
        </p:nvCxnSpPr>
        <p:spPr>
          <a:xfrm xmlns:a="http://schemas.openxmlformats.org/drawingml/2006/main">
            <a:off x="5715000" y="2971800"/>
            <a:ext cx="685800" cy="0"/>
          </a:xfrm>
          <a:prstGeom xmlns:a="http://schemas.openxmlformats.org/drawingml/2006/main" prst="straightConnector1">
            <a:avLst/>
          </a:prstGeom>
          <a:ln xmlns:a="http://schemas.openxmlformats.org/drawingml/2006/main" w="20955">
            <a:solidFill>
              <a:srgbClr val="6B7280"/>
            </a:solidFill>
            <a:prstDash val="solid"/>
            <a:tailEnd type="triangle" w="sm" len="sm"/>
          </a:ln>
        </p:spPr>
      </p:cxnSp>
      <p:cxnSp>
        <p:nvCxnSpPr>
          <p:cNvPr id="152" name="直接箭头连接符 74"/>
          <p:cNvCxnSpPr>
            <a:stCxn xmlns:a="http://schemas.openxmlformats.org/drawingml/2006/main" id="18" idx="3"/>
            <a:endCxn xmlns:a="http://schemas.openxmlformats.org/drawingml/2006/main" id="22" idx="1"/>
          </p:cNvCxnSpPr>
          <p:nvPr/>
        </p:nvCxnSpPr>
        <p:spPr>
          <a:xfrm xmlns:a="http://schemas.openxmlformats.org/drawingml/2006/main">
            <a:off x="7886700" y="2971800"/>
            <a:ext cx="400050" cy="0"/>
          </a:xfrm>
          <a:prstGeom xmlns:a="http://schemas.openxmlformats.org/drawingml/2006/main" prst="straightConnector1">
            <a:avLst/>
          </a:prstGeom>
          <a:ln xmlns:a="http://schemas.openxmlformats.org/drawingml/2006/main" w="28575">
            <a:solidFill>
              <a:srgbClr val="3D8DFF"/>
            </a:solidFill>
            <a:prstDash val="solid"/>
            <a:tailEnd type="triangle" w="sm" len="sm"/>
          </a:ln>
        </p:spPr>
      </p:cxnSp>
      <p:cxnSp>
        <p:nvCxnSpPr>
          <p:cNvPr id="153" name="直接箭头连接符 76"/>
          <p:cNvCxnSpPr>
            <a:stCxn xmlns:a="http://schemas.openxmlformats.org/drawingml/2006/main" id="26" idx="2"/>
            <a:endCxn xmlns:a="http://schemas.openxmlformats.org/drawingml/2006/main" id="28" idx="0"/>
          </p:cNvCxnSpPr>
          <p:nvPr/>
        </p:nvCxnSpPr>
        <p:spPr>
          <a:xfrm xmlns:a="http://schemas.openxmlformats.org/drawingml/2006/main" flipH="0">
            <a:off x="10771441" y="4898390"/>
            <a:ext cx="1" cy="741807"/>
          </a:xfrm>
          <a:prstGeom xmlns:a="http://schemas.openxmlformats.org/drawingml/2006/main" prst="straightConnector1">
            <a:avLst/>
          </a:prstGeom>
          <a:ln xmlns:a="http://schemas.openxmlformats.org/drawingml/2006/main" w="20955">
            <a:solidFill>
              <a:srgbClr val="111827"/>
            </a:solidFill>
            <a:prstDash val="solid"/>
            <a:tailEnd type="triangle" w="sm" len="sm"/>
          </a:ln>
        </p:spPr>
      </p:cxnSp>
      <p:cxnSp>
        <p:nvCxnSpPr>
          <p:cNvPr id="154" name="连接符: 肘形 77"/>
          <p:cNvCxnSpPr>
            <a:stCxn xmlns:a="http://schemas.openxmlformats.org/drawingml/2006/main" id="26" idx="1"/>
            <a:endCxn xmlns:a="http://schemas.openxmlformats.org/drawingml/2006/main" id="27" idx="3"/>
          </p:cNvCxnSpPr>
          <p:nvPr/>
        </p:nvCxnSpPr>
        <p:spPr>
          <a:xfrm xmlns:a="http://schemas.openxmlformats.org/drawingml/2006/main" rot="0" flipH="1" flipV="1">
            <a:off x="8153400" y="4230497"/>
            <a:ext cx="1856041" cy="1143"/>
          </a:xfrm>
          <a:prstGeom xmlns:a="http://schemas.openxmlformats.org/drawingml/2006/main" prst="bentConnector3">
            <a:avLst>
              <a:gd name="adj1" fmla="val 50000"/>
            </a:avLst>
          </a:prstGeom>
          <a:ln xmlns:a="http://schemas.openxmlformats.org/drawingml/2006/main" w="20955">
            <a:solidFill>
              <a:srgbClr val="6B7280"/>
            </a:solidFill>
            <a:prstDash val="solid"/>
            <a:tailEnd type="triangle" w="sm" len="sm"/>
          </a:ln>
        </p:spPr>
      </p:cxnSp>
      <p:cxnSp>
        <p:nvCxnSpPr>
          <p:cNvPr id="155" name="连接符: 肘形 78"/>
          <p:cNvCxnSpPr>
            <a:stCxn xmlns:a="http://schemas.openxmlformats.org/drawingml/2006/main" id="27" idx="1"/>
            <a:endCxn xmlns:a="http://schemas.openxmlformats.org/drawingml/2006/main" id="10" idx="2"/>
          </p:cNvCxnSpPr>
          <p:nvPr/>
        </p:nvCxnSpPr>
        <p:spPr>
          <a:xfrm xmlns:a="http://schemas.openxmlformats.org/drawingml/2006/main" rot="10800000">
            <a:off x="3086100" y="3600451"/>
            <a:ext cx="3105150" cy="630047"/>
          </a:xfrm>
          <a:prstGeom xmlns:a="http://schemas.openxmlformats.org/drawingml/2006/main" prst="bentConnector2">
            <a:avLst/>
          </a:prstGeom>
          <a:ln xmlns:a="http://schemas.openxmlformats.org/drawingml/2006/main" w="20955">
            <a:solidFill>
              <a:srgbClr val="6B7280"/>
            </a:solidFill>
            <a:prstDash val="solid"/>
            <a:tailEnd type="triangle" w="sm" len="sm"/>
          </a:ln>
        </p:spPr>
      </p:cxnSp>
      <p:sp>
        <p:nvSpPr>
          <p:cNvPr id="37" name="是标签">
            <a:extLst xmlns:a="http://schemas.openxmlformats.org/drawingml/2006/main">
              <a:ext uri="{FF2B5EF4-FFF2-40B4-BE49-F238E27FC236}">
                <a16:creationId xmlns:a16="http://schemas.microsoft.com/office/drawing/2014/main" id="{DEA37C4C-6F2E-4D76-9E7B-6BC4330F9731}"/>
              </a:ext>
            </a:extLst>
          </p:cNvPr>
          <p:cNvSpPr>
            <a:spLocks xmlns:a="http://schemas.openxmlformats.org/drawingml/2006/main" noGrp="1"/>
          </p:cNvSpPr>
          <p:nvPr/>
        </p:nvSpPr>
        <p:spPr>
          <a:xfrm xmlns:a="http://schemas.openxmlformats.org/drawingml/2006/main">
            <a:off x="9220200" y="5038725"/>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11827"/>
                </a:solidFill>
                <a:latin typeface="Microsoft YaHei"/>
                <a:ea typeface="Microsoft YaHei"/>
                <a:cs typeface="Microsoft YaHei"/>
              </a:defRPr>
            </a:pPr>
            <a:r>
              <a:rPr sz="1125" b="1">
                <a:solidFill>
                  <a:srgbClr val="111827"/>
                </a:solidFill>
                <a:latin typeface="Microsoft YaHei"/>
                <a:ea typeface="Microsoft YaHei"/>
                <a:cs typeface="Microsoft YaHei"/>
              </a:rPr>
              <a:t>是：全部运行
结束后汇总</a:t>
            </a:r>
          </a:p>
        </p:txBody>
      </p:sp>
      <p:sp>
        <p:nvSpPr>
          <p:cNvPr id="38" name="否标签">
            <a:extLst xmlns:a="http://schemas.openxmlformats.org/drawingml/2006/main">
              <a:ext uri="{FF2B5EF4-FFF2-40B4-BE49-F238E27FC236}">
                <a16:creationId xmlns:a16="http://schemas.microsoft.com/office/drawing/2014/main" id="{02F76DCE-2B05-4408-9F87-918A7E4E4D76}"/>
              </a:ext>
            </a:extLst>
          </p:cNvPr>
          <p:cNvSpPr>
            <a:spLocks xmlns:a="http://schemas.openxmlformats.org/drawingml/2006/main" noGrp="1"/>
          </p:cNvSpPr>
          <p:nvPr/>
        </p:nvSpPr>
        <p:spPr>
          <a:xfrm xmlns:a="http://schemas.openxmlformats.org/drawingml/2006/main">
            <a:off x="8963025" y="3918077"/>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6B7280"/>
                </a:solidFill>
                <a:latin typeface="Microsoft YaHei"/>
                <a:ea typeface="Microsoft YaHei"/>
                <a:cs typeface="Microsoft YaHei"/>
              </a:defRPr>
            </a:pPr>
            <a:r>
              <a:rPr sz="1125" b="1">
                <a:solidFill>
                  <a:srgbClr val="6B7280"/>
                </a:solidFill>
                <a:latin typeface="Microsoft YaHei"/>
                <a:ea typeface="Microsoft YaHei"/>
                <a:cs typeface="Microsoft YaHei"/>
              </a:rPr>
              <a:t>否</a:t>
            </a:r>
          </a:p>
        </p:txBody>
      </p:sp>
      <p:sp>
        <p:nvSpPr>
          <p:cNvPr id="39" name="核心解释条">
            <a:extLst xmlns:a="http://schemas.openxmlformats.org/drawingml/2006/main">
              <a:ext uri="{FF2B5EF4-FFF2-40B4-BE49-F238E27FC236}">
                <a16:creationId xmlns:a16="http://schemas.microsoft.com/office/drawing/2014/main" id="{8ED55A2B-3DAC-45A3-B635-5673190D7729}"/>
              </a:ext>
            </a:extLst>
          </p:cNvPr>
          <p:cNvSpPr>
            <a:spLocks xmlns:a="http://schemas.openxmlformats.org/drawingml/2006/main" noGrp="1"/>
          </p:cNvSpPr>
          <p:nvPr/>
        </p:nvSpPr>
        <p:spPr>
          <a:xfrm xmlns:a="http://schemas.openxmlformats.org/drawingml/2006/main">
            <a:off x="457200" y="5487797"/>
            <a:ext cx="4953000" cy="1066800"/>
          </a:xfrm>
          <a:prstGeom xmlns:a="http://schemas.openxmlformats.org/drawingml/2006/main" prst="rect">
            <a:avLst/>
          </a:prstGeom>
          <a:solidFill xmlns:a="http://schemas.openxmlformats.org/drawingml/2006/main">
            <a:srgbClr val="F7F7F7"/>
          </a:solidFill>
          <a:ln xmlns:a="http://schemas.openxmlformats.org/drawingml/2006/main" w="9525">
            <a:solidFill>
              <a:srgbClr val="D8DADF"/>
            </a:solidFill>
            <a:prstDash val="solid"/>
          </a:ln>
        </p:spPr>
      </p:sp>
      <p:sp>
        <p:nvSpPr>
          <p:cNvPr id="40" name="核心解释标题">
            <a:extLst xmlns:a="http://schemas.openxmlformats.org/drawingml/2006/main">
              <a:ext uri="{FF2B5EF4-FFF2-40B4-BE49-F238E27FC236}">
                <a16:creationId xmlns:a16="http://schemas.microsoft.com/office/drawing/2014/main" id="{673CFB38-BC17-4FE5-928A-4CCBD510A725}"/>
              </a:ext>
            </a:extLst>
          </p:cNvPr>
          <p:cNvSpPr>
            <a:spLocks xmlns:a="http://schemas.openxmlformats.org/drawingml/2006/main" noGrp="1"/>
          </p:cNvSpPr>
          <p:nvPr/>
        </p:nvSpPr>
        <p:spPr>
          <a:xfrm xmlns:a="http://schemas.openxmlformats.org/drawingml/2006/main">
            <a:off x="647700" y="5640197"/>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500" b="1">
                <a:solidFill>
                  <a:srgbClr val="1675B8"/>
                </a:solidFill>
                <a:latin typeface="Microsoft YaHei"/>
                <a:ea typeface="Microsoft YaHei"/>
                <a:cs typeface="Microsoft YaHei"/>
              </a:defRPr>
            </a:pPr>
            <a:r>
              <a:rPr sz="1500" b="1">
                <a:solidFill>
                  <a:srgbClr val="1675B8"/>
                </a:solidFill>
                <a:latin typeface="Microsoft YaHei"/>
                <a:ea typeface="Microsoft YaHei"/>
                <a:cs typeface="Microsoft YaHei"/>
              </a:rPr>
              <a:t>独立运行次数与计算量</a:t>
            </a:r>
          </a:p>
        </p:txBody>
      </p:sp>
      <p:sp>
        <p:nvSpPr>
          <p:cNvPr id="41" name="核心解释正文">
            <a:extLst xmlns:a="http://schemas.openxmlformats.org/drawingml/2006/main">
              <a:ext uri="{FF2B5EF4-FFF2-40B4-BE49-F238E27FC236}">
                <a16:creationId xmlns:a16="http://schemas.microsoft.com/office/drawing/2014/main" id="{DE8E70E2-7587-450E-B310-5C0F6D22129A}"/>
              </a:ext>
            </a:extLst>
          </p:cNvPr>
          <p:cNvSpPr>
            <a:spLocks xmlns:a="http://schemas.openxmlformats.org/drawingml/2006/main" noGrp="1"/>
          </p:cNvSpPr>
          <p:nvPr/>
        </p:nvSpPr>
        <p:spPr>
          <a:xfrm xmlns:a="http://schemas.openxmlformats.org/drawingml/2006/main">
            <a:off x="647700" y="5944997"/>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buNone/>
              <a:defRPr sz="1350">
                <a:solidFill>
                  <a:srgbClr val="374151"/>
                </a:solidFill>
                <a:latin typeface="Microsoft YaHei"/>
                <a:ea typeface="Microsoft YaHei"/>
                <a:cs typeface="Microsoft YaHei"/>
              </a:defRPr>
            </a:pPr>
            <a:r>
              <a:rPr sz="1350">
                <a:solidFill>
                  <a:srgbClr val="374151"/>
                </a:solidFill>
                <a:latin typeface="Microsoft YaHei"/>
                <a:ea typeface="Microsoft YaHei"/>
                <a:cs typeface="Microsoft YaHei"/>
              </a:rPr>
              <a:t>exhaustiveness 决定独立运行次数；</a:t>
            </a:r>
          </a:p>
          <a:p xmlns:a="http://schemas.openxmlformats.org/drawingml/2006/main">
            <a:pPr>
              <a:buNone/>
              <a:defRPr sz="1350">
                <a:solidFill>
                  <a:srgbClr val="374151"/>
                </a:solidFill>
                <a:latin typeface="Microsoft YaHei"/>
                <a:ea typeface="Microsoft YaHei"/>
                <a:cs typeface="Microsoft YaHei"/>
              </a:defRPr>
            </a:pPr>
            <a:r>
              <a:rPr sz="1350">
                <a:solidFill>
                  <a:srgbClr val="374151"/>
                </a:solidFill>
                <a:latin typeface="Microsoft YaHei"/>
                <a:ea typeface="Microsoft YaHei"/>
                <a:cs typeface="Microsoft YaHei"/>
              </a:rPr>
              <a:t>数值越大，搜索通常越充分、耗时也越长。</a:t>
            </a:r>
          </a:p>
        </p:txBody>
      </p:sp>
      <p:cxnSp>
        <p:nvCxnSpPr>
          <p:cNvPr id="161" name="连接符: 肘形 44"/>
          <p:cNvCxnSpPr>
            <a:stCxn xmlns:a="http://schemas.openxmlformats.org/drawingml/2006/main" id="22" idx="3"/>
            <a:endCxn xmlns:a="http://schemas.openxmlformats.org/drawingml/2006/main" id="26" idx="0"/>
          </p:cNvCxnSpPr>
          <p:nvPr/>
        </p:nvCxnSpPr>
        <p:spPr>
          <a:xfrm xmlns:a="http://schemas.openxmlformats.org/drawingml/2006/main">
            <a:off x="9772650" y="2971800"/>
            <a:ext cx="998791" cy="593090"/>
          </a:xfrm>
          <a:prstGeom xmlns:a="http://schemas.openxmlformats.org/drawingml/2006/main" prst="bentConnector2">
            <a:avLst/>
          </a:prstGeom>
          <a:ln xmlns:a="http://schemas.openxmlformats.org/drawingml/2006/main" w="20955">
            <a:solidFill>
              <a:srgbClr val="6B7280"/>
            </a:solidFill>
            <a:prstDash val="solid"/>
            <a:tailEnd type="triangle"/>
          </a:ln>
        </p:spPr>
        <p:style>
          <a:lnRef xmlns:a="http://schemas.openxmlformats.org/drawingml/2006/main" idx="1">
            <a:schemeClr val="accent4"/>
          </a:lnRef>
          <a:fillRef xmlns:a="http://schemas.openxmlformats.org/drawingml/2006/main" idx="0">
            <a:schemeClr val="accent4"/>
          </a:fillRef>
          <a:effectRef xmlns:a="http://schemas.openxmlformats.org/drawingml/2006/main" idx="0">
            <a:schemeClr val="accent4"/>
          </a:effectRef>
          <a:fontRef xmlns:a="http://schemas.openxmlformats.org/drawingml/2006/main" idx="minor">
            <a:schemeClr val="tx1"/>
          </a:fontRef>
        </p:style>
      </p:cxnSp>
    </p:spTree>
    <p:extLst>
      <p:ext uri="{BB962C8B-B14F-4D97-AF65-F5344CB8AC3E}">
        <p14:creationId xmlns:p14="http://schemas.microsoft.com/office/powerpoint/2010/main" val="784027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2026-09-22T12:58:19.6380000Z</dcterms:created>
  <dcterms:modified xsi:type="dcterms:W3CDTF">2026-09-22T12:58:19.6380000Z</dcterms:modified>
</coreProperties>
</file>